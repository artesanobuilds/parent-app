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they can repeat to their partner. Say 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company in one line. Say it and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no argument. Every parent is doing the math on their own inbox.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competitor's own words are the timing argument. The third card answers the skeptic who reads the same fact as 'this category kills companies'.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moment, reveal the system second.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retention engine. Not the coaching.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Heather's credibility slide, hardened. The headline is the detail,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think this is a lifestyle business, it is because we did not say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underwrite one slide, it is this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Heather leads this one. It is the trust slide, and the reason a parent hands us their kid at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Bottoms-up from three verified anchors. If they push on TAM, push back with these.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title sit on a white field. Do not fill the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out loud: we wrote down what would make us quit.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VCs weight team about 40% more than they used to. AI made building easy, so who builds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card is the point. Do not read the résumé, read the last 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 to the previous slide. Pick one and delete the other. Use this one if the deck is already running long.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closing line. No thank-you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2200000"/>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700000"/>
            <a:ext cx="8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MVP · MOST VALUABLE PARENT</a:t>
            </a:r>
          </a:p>
        </p:txBody>
      </p:sp>
      <p:sp>
        <p:nvSpPr>
          <p:cNvPr id="5" name="TextBox 4"/>
          <p:cNvSpPr txBox="1"/>
          <p:nvPr/>
        </p:nvSpPr>
        <p:spPr>
          <a:xfrm>
            <a:off x="1143000" y="2900000"/>
            <a:ext cx="13761720" cy="3554720"/>
          </a:xfrm>
          <a:prstGeom prst="rect">
            <a:avLst/>
          </a:prstGeom>
          <a:noFill/>
        </p:spPr>
        <p:txBody>
          <a:bodyPr wrap="square" lIns="0" rIns="0" tIns="0" bIns="0" anchor="t">
            <a:noAutofit/>
          </a:bodyPr>
          <a:lstStyle/>
          <a:p>
            <a:pPr algn="l">
              <a:lnSpc>
                <a:spcPct val="108000"/>
              </a:lnSpc>
              <a:spcAft>
                <a:spcPts val="0"/>
              </a:spcAft>
            </a:pPr>
            <a:r>
              <a:rPr sz="7600" b="1" i="0">
                <a:solidFill>
                  <a:srgbClr val="282019"/>
                </a:solidFill>
                <a:latin typeface="Fraunces"/>
              </a:rPr>
              <a:t>Nobody should have to be</a:t>
            </a:r>
          </a:p>
          <a:p>
            <a:pPr algn="l">
              <a:lnSpc>
                <a:spcPct val="108000"/>
              </a:lnSpc>
              <a:spcAft>
                <a:spcPts val="0"/>
              </a:spcAft>
            </a:pPr>
            <a:r>
              <a:rPr sz="7600" b="1" i="0">
                <a:solidFill>
                  <a:srgbClr val="282019"/>
                </a:solidFill>
                <a:latin typeface="Fraunces"/>
              </a:rPr>
              <a:t>the only one who remembers.</a:t>
            </a:r>
          </a:p>
        </p:txBody>
      </p:sp>
      <p:sp>
        <p:nvSpPr>
          <p:cNvPr id="6" name="TextBox 5"/>
          <p:cNvSpPr txBox="1"/>
          <p:nvPr/>
        </p:nvSpPr>
        <p:spPr>
          <a:xfrm>
            <a:off x="1143000" y="6854720"/>
            <a:ext cx="9921240" cy="1294440"/>
          </a:xfrm>
          <a:prstGeom prst="rect">
            <a:avLst/>
          </a:prstGeom>
          <a:noFill/>
        </p:spPr>
        <p:txBody>
          <a:bodyPr wrap="square" lIns="0" rIns="0" tIns="0" bIns="0" anchor="t">
            <a:noAutofit/>
          </a:bodyPr>
          <a:lstStyle/>
          <a:p>
            <a:pPr algn="l">
              <a:lnSpc>
                <a:spcPct val="135000"/>
              </a:lnSpc>
              <a:spcAft>
                <a:spcPts val="0"/>
              </a:spcAft>
            </a:pPr>
            <a:r>
              <a:rPr sz="2400" b="0" i="0">
                <a:solidFill>
                  <a:srgbClr val="6E6455"/>
                </a:solidFill>
                <a:latin typeface="Inter"/>
              </a:rPr>
              <a:t>MVP finds the camps, watches the registration windows, and turns the school's PDF into both homes' calendars. It works even when only one parent uses it.</a:t>
            </a:r>
          </a:p>
        </p:txBody>
      </p:sp>
      <p:sp>
        <p:nvSpPr>
          <p:cNvPr id="7" name="TextBox 6"/>
          <p:cNvSpPr txBox="1"/>
          <p:nvPr/>
        </p:nvSpPr>
        <p:spPr>
          <a:xfrm>
            <a:off x="1143000" y="9567863"/>
            <a:ext cx="9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Pre-seed · 2026 · Heather Hannan-Kramer · Miguel Alvarado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2820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5FB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5FB4D4"/>
                </a:solidFill>
                <a:latin typeface="JetBrains Mono"/>
              </a:rPr>
              <a:t>THE THESIS</a:t>
            </a:r>
          </a:p>
        </p:txBody>
      </p:sp>
      <p:sp>
        <p:nvSpPr>
          <p:cNvPr id="5" name="TextBox 4"/>
          <p:cNvSpPr txBox="1"/>
          <p:nvPr/>
        </p:nvSpPr>
        <p:spPr>
          <a:xfrm>
            <a:off x="1143000" y="1595450"/>
            <a:ext cx="14721840" cy="2091680"/>
          </a:xfrm>
          <a:prstGeom prst="rect">
            <a:avLst/>
          </a:prstGeom>
          <a:noFill/>
        </p:spPr>
        <p:txBody>
          <a:bodyPr wrap="square" lIns="0" rIns="0" tIns="0" bIns="0" anchor="t">
            <a:noAutofit/>
          </a:bodyPr>
          <a:lstStyle/>
          <a:p>
            <a:pPr algn="l">
              <a:lnSpc>
                <a:spcPct val="108000"/>
              </a:lnSpc>
              <a:spcAft>
                <a:spcPts val="0"/>
              </a:spcAft>
            </a:pPr>
            <a:r>
              <a:rPr sz="6600" b="1" i="0">
                <a:solidFill>
                  <a:srgbClr val="FCFBF8"/>
                </a:solidFill>
                <a:latin typeface="Fraunces"/>
              </a:rPr>
              <a:t>Agentic software escaped the enterprise.</a:t>
            </a:r>
          </a:p>
        </p:txBody>
      </p:sp>
      <p:sp>
        <p:nvSpPr>
          <p:cNvPr id="6" name="TextBox 5"/>
          <p:cNvSpPr txBox="1"/>
          <p:nvPr/>
        </p:nvSpPr>
        <p:spPr>
          <a:xfrm>
            <a:off x="1143000" y="4087130"/>
            <a:ext cx="12801600" cy="1217287"/>
          </a:xfrm>
          <a:prstGeom prst="rect">
            <a:avLst/>
          </a:prstGeom>
          <a:noFill/>
        </p:spPr>
        <p:txBody>
          <a:bodyPr wrap="square" lIns="0" rIns="0" tIns="0" bIns="0" anchor="t">
            <a:noAutofit/>
          </a:bodyPr>
          <a:lstStyle/>
          <a:p>
            <a:pPr algn="l">
              <a:lnSpc>
                <a:spcPct val="135000"/>
              </a:lnSpc>
              <a:spcAft>
                <a:spcPts val="0"/>
              </a:spcAft>
            </a:pPr>
            <a:r>
              <a:rPr sz="2250" b="0" i="0">
                <a:solidFill>
                  <a:srgbClr val="C4BAAB"/>
                </a:solidFill>
                <a:latin typeface="Inter"/>
              </a:rPr>
              <a:t>Two years ago, AI that could actually do things arrived for engineers. It holds the whole context, makes a plan, takes the next step, and can be trusted with the result. Claude Code turned one engineer into a team. That capability is general now. It has not reached the household.</a:t>
            </a:r>
          </a:p>
        </p:txBody>
      </p:sp>
      <p:sp>
        <p:nvSpPr>
          <p:cNvPr id="7" name="Rounded Rectangle 6"/>
          <p:cNvSpPr/>
          <p:nvPr/>
        </p:nvSpPr>
        <p:spPr>
          <a:xfrm>
            <a:off x="1143000" y="5544417"/>
            <a:ext cx="5163300" cy="2400000"/>
          </a:xfrm>
          <a:prstGeom prst="roundRect">
            <a:avLst>
              <a:gd name="adj" fmla="val 4500"/>
            </a:avLst>
          </a:prstGeom>
          <a:solidFill>
            <a:srgbClr val="33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918260"/>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FCFBF8"/>
                </a:solidFill>
                <a:latin typeface="Inter"/>
              </a:rPr>
              <a:t>What engineers got</a:t>
            </a:r>
          </a:p>
        </p:txBody>
      </p:sp>
      <p:sp>
        <p:nvSpPr>
          <p:cNvPr id="9" name="TextBox 8"/>
          <p:cNvSpPr txBox="1"/>
          <p:nvPr/>
        </p:nvSpPr>
        <p:spPr>
          <a:xfrm>
            <a:off x="1505325" y="6418305"/>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C4BAAB"/>
                </a:solidFill>
                <a:latin typeface="Inter"/>
              </a:rPr>
              <a:t>An agent that holds the context, works while they sleep, and hands back finished work.</a:t>
            </a:r>
          </a:p>
        </p:txBody>
      </p:sp>
      <p:sp>
        <p:nvSpPr>
          <p:cNvPr id="10" name="Rounded Rectangle 9"/>
          <p:cNvSpPr/>
          <p:nvPr/>
        </p:nvSpPr>
        <p:spPr>
          <a:xfrm>
            <a:off x="6562350" y="5544417"/>
            <a:ext cx="5163300" cy="2400000"/>
          </a:xfrm>
          <a:prstGeom prst="roundRect">
            <a:avLst>
              <a:gd name="adj" fmla="val 4500"/>
            </a:avLst>
          </a:prstGeom>
          <a:solidFill>
            <a:srgbClr val="33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918260"/>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FCFBF8"/>
                </a:solidFill>
                <a:latin typeface="Inter"/>
              </a:rPr>
              <a:t>What parents got</a:t>
            </a:r>
          </a:p>
        </p:txBody>
      </p:sp>
      <p:sp>
        <p:nvSpPr>
          <p:cNvPr id="12" name="TextBox 11"/>
          <p:cNvSpPr txBox="1"/>
          <p:nvPr/>
        </p:nvSpPr>
        <p:spPr>
          <a:xfrm>
            <a:off x="6924675" y="6418305"/>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C4BAAB"/>
                </a:solidFill>
                <a:latin typeface="Inter"/>
              </a:rPr>
              <a:t>A chatbot that has never heard of their kids.</a:t>
            </a:r>
          </a:p>
        </p:txBody>
      </p:sp>
      <p:sp>
        <p:nvSpPr>
          <p:cNvPr id="13" name="Rounded Rectangle 12"/>
          <p:cNvSpPr/>
          <p:nvPr/>
        </p:nvSpPr>
        <p:spPr>
          <a:xfrm>
            <a:off x="11981700" y="5544417"/>
            <a:ext cx="5163300" cy="2400000"/>
          </a:xfrm>
          <a:prstGeom prst="roundRect">
            <a:avLst>
              <a:gd name="adj" fmla="val 4500"/>
            </a:avLst>
          </a:prstGeom>
          <a:solidFill>
            <a:srgbClr val="33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918260"/>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FCFBF8"/>
                </a:solidFill>
                <a:latin typeface="Inter"/>
              </a:rPr>
              <a:t>What we built</a:t>
            </a:r>
          </a:p>
        </p:txBody>
      </p:sp>
      <p:sp>
        <p:nvSpPr>
          <p:cNvPr id="15" name="TextBox 14"/>
          <p:cNvSpPr txBox="1"/>
          <p:nvPr/>
        </p:nvSpPr>
        <p:spPr>
          <a:xfrm>
            <a:off x="12344025" y="6418305"/>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C4BAAB"/>
                </a:solidFill>
                <a:latin typeface="Inter"/>
              </a:rPr>
              <a:t>The first one, pointed at the second job.</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7A7062"/>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7A7062"/>
                </a:solidFill>
                <a:latin typeface="JetBrains Mono"/>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PROBLEM</a:t>
            </a:r>
          </a:p>
        </p:txBody>
      </p:sp>
      <p:sp>
        <p:nvSpPr>
          <p:cNvPr id="5" name="TextBox 4"/>
          <p:cNvSpPr txBox="1"/>
          <p:nvPr/>
        </p:nvSpPr>
        <p:spPr>
          <a:xfrm>
            <a:off x="1143000" y="1595450"/>
            <a:ext cx="1440180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The last unmanaged operations job in America.</a:t>
            </a:r>
          </a:p>
        </p:txBody>
      </p:sp>
      <p:sp>
        <p:nvSpPr>
          <p:cNvPr id="6" name="TextBox 5"/>
          <p:cNvSpPr txBox="1"/>
          <p:nvPr/>
        </p:nvSpPr>
        <p:spPr>
          <a:xfrm>
            <a:off x="1143000" y="3721370"/>
            <a:ext cx="12481560" cy="445762"/>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Sales got Salesforce. Engineering got Claude Code. The family got a group text.</a:t>
            </a:r>
          </a:p>
        </p:txBody>
      </p:sp>
      <p:sp>
        <p:nvSpPr>
          <p:cNvPr id="7" name="Rounded Rectangle 6"/>
          <p:cNvSpPr/>
          <p:nvPr/>
        </p:nvSpPr>
        <p:spPr>
          <a:xfrm>
            <a:off x="1143000" y="4407132"/>
            <a:ext cx="5163300" cy="42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4740975"/>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85%</a:t>
            </a:r>
          </a:p>
        </p:txBody>
      </p:sp>
      <p:sp>
        <p:nvSpPr>
          <p:cNvPr id="9" name="TextBox 8"/>
          <p:cNvSpPr txBox="1"/>
          <p:nvPr/>
        </p:nvSpPr>
        <p:spPr>
          <a:xfrm>
            <a:off x="1505325" y="5970975"/>
            <a:ext cx="4438650" cy="25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of parents lose sleep over summer care and scheduling. 90% among working parents.</a:t>
            </a:r>
          </a:p>
          <a:p>
            <a:pPr algn="l">
              <a:lnSpc>
                <a:spcPct val="130000"/>
              </a:lnSpc>
              <a:spcAft>
                <a:spcPts val="0"/>
              </a:spcAft>
            </a:pPr>
            <a:r>
              <a:rPr sz="1250" b="0" i="0">
                <a:solidFill>
                  <a:srgbClr val="9A9080"/>
                </a:solidFill>
                <a:latin typeface="JetBrains Mono"/>
              </a:rPr>
              <a:t>Bright Horizons Modern Family Index · Harris Poll · Apr 2026</a:t>
            </a:r>
          </a:p>
        </p:txBody>
      </p:sp>
      <p:sp>
        <p:nvSpPr>
          <p:cNvPr id="10" name="Rounded Rectangle 9"/>
          <p:cNvSpPr/>
          <p:nvPr/>
        </p:nvSpPr>
        <p:spPr>
          <a:xfrm>
            <a:off x="6562350" y="4407132"/>
            <a:ext cx="5163300" cy="42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4740975"/>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80+</a:t>
            </a:r>
          </a:p>
        </p:txBody>
      </p:sp>
      <p:sp>
        <p:nvSpPr>
          <p:cNvPr id="12" name="TextBox 11"/>
          <p:cNvSpPr txBox="1"/>
          <p:nvPr/>
        </p:nvSpPr>
        <p:spPr>
          <a:xfrm>
            <a:off x="6924675" y="5970975"/>
            <a:ext cx="4438650" cy="25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school and activity emails a month.</a:t>
            </a:r>
          </a:p>
          <a:p>
            <a:pPr algn="l">
              <a:lnSpc>
                <a:spcPct val="130000"/>
              </a:lnSpc>
              <a:spcAft>
                <a:spcPts val="0"/>
              </a:spcAft>
            </a:pPr>
            <a:r>
              <a:rPr sz="1250" b="0" i="0">
                <a:solidFill>
                  <a:srgbClr val="9A9080"/>
                </a:solidFill>
                <a:latin typeface="JetBrains Mono"/>
              </a:rPr>
              <a:t>Yahoo / Censuswide · Jun 2024</a:t>
            </a:r>
          </a:p>
        </p:txBody>
      </p:sp>
      <p:sp>
        <p:nvSpPr>
          <p:cNvPr id="13" name="Rounded Rectangle 12"/>
          <p:cNvSpPr/>
          <p:nvPr/>
        </p:nvSpPr>
        <p:spPr>
          <a:xfrm>
            <a:off x="11981700" y="4407132"/>
            <a:ext cx="5163300" cy="42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4740975"/>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62%</a:t>
            </a:r>
          </a:p>
        </p:txBody>
      </p:sp>
      <p:sp>
        <p:nvSpPr>
          <p:cNvPr id="15" name="TextBox 14"/>
          <p:cNvSpPr txBox="1"/>
          <p:nvPr/>
        </p:nvSpPr>
        <p:spPr>
          <a:xfrm>
            <a:off x="12344025" y="5970975"/>
            <a:ext cx="4438650" cy="25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have already missed something buried in one.</a:t>
            </a:r>
          </a:p>
          <a:p>
            <a:pPr algn="l">
              <a:lnSpc>
                <a:spcPct val="130000"/>
              </a:lnSpc>
              <a:spcAft>
                <a:spcPts val="0"/>
              </a:spcAft>
            </a:pPr>
            <a:r>
              <a:rPr sz="1250" b="0" i="0">
                <a:solidFill>
                  <a:srgbClr val="9A9080"/>
                </a:solidFill>
                <a:latin typeface="JetBrains Mono"/>
              </a:rPr>
              <a:t>Yahoo / Censuswide · Jun 2024</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WHY NOW</a:t>
            </a:r>
          </a:p>
        </p:txBody>
      </p:sp>
      <p:sp>
        <p:nvSpPr>
          <p:cNvPr id="5" name="TextBox 4"/>
          <p:cNvSpPr txBox="1"/>
          <p:nvPr/>
        </p:nvSpPr>
        <p:spPr>
          <a:xfrm>
            <a:off x="1143000" y="1595450"/>
            <a:ext cx="1280160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Milo was right in 2024.</a:t>
            </a:r>
          </a:p>
          <a:p>
            <a:pPr algn="l">
              <a:lnSpc>
                <a:spcPct val="108000"/>
              </a:lnSpc>
              <a:spcAft>
                <a:spcPts val="0"/>
              </a:spcAft>
            </a:pPr>
            <a:r>
              <a:rPr sz="5400" b="1" i="0">
                <a:solidFill>
                  <a:srgbClr val="282019"/>
                </a:solidFill>
                <a:latin typeface="Fraunces"/>
              </a:rPr>
              <a:t>They are wrong in 2026.</a:t>
            </a:r>
          </a:p>
        </p:txBody>
      </p:sp>
      <p:sp>
        <p:nvSpPr>
          <p:cNvPr id="6" name="Rounded Rectangle 5"/>
          <p:cNvSpPr/>
          <p:nvPr/>
        </p:nvSpPr>
        <p:spPr>
          <a:xfrm>
            <a:off x="1143000" y="3900000"/>
            <a:ext cx="16002000" cy="15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5325" y="4200000"/>
            <a:ext cx="15277350" cy="1000000"/>
          </a:xfrm>
          <a:prstGeom prst="rect">
            <a:avLst/>
          </a:prstGeom>
          <a:noFill/>
        </p:spPr>
        <p:txBody>
          <a:bodyPr wrap="square" lIns="0" rIns="0" tIns="0" bIns="0" anchor="t">
            <a:noAutofit/>
          </a:bodyPr>
          <a:lstStyle/>
          <a:p>
            <a:pPr algn="l">
              <a:lnSpc>
                <a:spcPct val="120000"/>
              </a:lnSpc>
              <a:spcAft>
                <a:spcPts val="0"/>
              </a:spcAft>
            </a:pPr>
            <a:r>
              <a:rPr sz="3200" b="0" i="1">
                <a:solidFill>
                  <a:srgbClr val="282019"/>
                </a:solidFill>
                <a:latin typeface="Fraunces"/>
              </a:rPr>
              <a:t>“the technology is simply too early to be reliable in any useful way”</a:t>
            </a:r>
          </a:p>
          <a:p>
            <a:pPr algn="l">
              <a:lnSpc>
                <a:spcPct val="100000"/>
              </a:lnSpc>
              <a:spcAft>
                <a:spcPts val="0"/>
              </a:spcAft>
            </a:pPr>
            <a:r>
              <a:rPr sz="1500" b="0" i="0">
                <a:solidFill>
                  <a:srgbClr val="9A9080"/>
                </a:solidFill>
                <a:latin typeface="JetBrains Mono"/>
              </a:rPr>
              <a:t>Milo, shutting down, 12 January 2026</a:t>
            </a:r>
          </a:p>
        </p:txBody>
      </p:sp>
      <p:sp>
        <p:nvSpPr>
          <p:cNvPr id="8" name="Rounded Rectangle 7"/>
          <p:cNvSpPr/>
          <p:nvPr/>
        </p:nvSpPr>
        <p:spPr>
          <a:xfrm>
            <a:off x="1143000" y="575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5325" y="6123843"/>
            <a:ext cx="4438650" cy="760090"/>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Agents crossed the reliability line</a:t>
            </a:r>
          </a:p>
        </p:txBody>
      </p:sp>
      <p:sp>
        <p:nvSpPr>
          <p:cNvPr id="10" name="TextBox 9"/>
          <p:cNvSpPr txBox="1"/>
          <p:nvPr/>
        </p:nvSpPr>
        <p:spPr>
          <a:xfrm>
            <a:off x="1505325" y="6983933"/>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Tool calling plus real eval infrastructure is the difference between a demo and a deadline. That gap closed in the last eighteen months.</a:t>
            </a:r>
          </a:p>
        </p:txBody>
      </p:sp>
      <p:sp>
        <p:nvSpPr>
          <p:cNvPr id="11" name="Rounded Rectangle 10"/>
          <p:cNvSpPr/>
          <p:nvPr/>
        </p:nvSpPr>
        <p:spPr>
          <a:xfrm>
            <a:off x="6562350" y="575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24675" y="612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Voice went conversational</a:t>
            </a:r>
          </a:p>
        </p:txBody>
      </p:sp>
      <p:sp>
        <p:nvSpPr>
          <p:cNvPr id="13" name="TextBox 12"/>
          <p:cNvSpPr txBox="1"/>
          <p:nvPr/>
        </p:nvSpPr>
        <p:spPr>
          <a:xfrm>
            <a:off x="6924675" y="6623888"/>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Sub-150ms round trip. A parent in the carpool line can talk to it now.</a:t>
            </a:r>
          </a:p>
        </p:txBody>
      </p:sp>
      <p:sp>
        <p:nvSpPr>
          <p:cNvPr id="14" name="Rounded Rectangle 13"/>
          <p:cNvSpPr/>
          <p:nvPr/>
        </p:nvSpPr>
        <p:spPr>
          <a:xfrm>
            <a:off x="11981700" y="575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025" y="612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The category cleared</a:t>
            </a:r>
          </a:p>
        </p:txBody>
      </p:sp>
      <p:sp>
        <p:nvSpPr>
          <p:cNvPr id="16" name="TextBox 15"/>
          <p:cNvSpPr txBox="1"/>
          <p:nvPr/>
        </p:nvSpPr>
        <p:spPr>
          <a:xfrm>
            <a:off x="12344025" y="6623888"/>
            <a:ext cx="4438650" cy="177355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Milo closed January 2026. Yohana left the US in September 2025. Meanwhile TalkingParents killed its free plan and AppClose went paid, so demand is inelastic enough to raise prices into.</a:t>
            </a:r>
          </a:p>
        </p:txBody>
      </p:sp>
      <p:sp>
        <p:nvSpPr>
          <p:cNvPr id="17" name="TextBox 16"/>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8" name="TextBox 17"/>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JOB</a:t>
            </a:r>
          </a:p>
        </p:txBody>
      </p:sp>
      <p:sp>
        <p:nvSpPr>
          <p:cNvPr id="5" name="TextBox 4"/>
          <p:cNvSpPr txBox="1"/>
          <p:nvPr/>
        </p:nvSpPr>
        <p:spPr>
          <a:xfrm>
            <a:off x="1143000" y="1595450"/>
            <a:ext cx="1472184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It's 11pm and she just remembered the deadline.</a:t>
            </a:r>
          </a:p>
        </p:txBody>
      </p:sp>
      <p:sp>
        <p:nvSpPr>
          <p:cNvPr id="6" name="TextBox 5"/>
          <p:cNvSpPr txBox="1"/>
          <p:nvPr/>
        </p:nvSpPr>
        <p:spPr>
          <a:xfrm>
            <a:off x="1143000" y="3721370"/>
            <a:ext cx="1152144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That is the moment we build for. She does not need advice, a course, or a chatbot. She needs someone to have already handled it.</a:t>
            </a:r>
          </a:p>
        </p:txBody>
      </p:sp>
      <p:sp>
        <p:nvSpPr>
          <p:cNvPr id="7" name="Rounded Rectangle 6"/>
          <p:cNvSpPr/>
          <p:nvPr/>
        </p:nvSpPr>
        <p:spPr>
          <a:xfrm>
            <a:off x="1143000" y="4792895"/>
            <a:ext cx="5163300" cy="25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She photographs the flyer</a:t>
            </a:r>
          </a:p>
        </p:txBody>
      </p:sp>
      <p:sp>
        <p:nvSpPr>
          <p:cNvPr id="9" name="TextBox 8"/>
          <p:cNvSpPr txBox="1"/>
          <p:nvPr/>
        </p:nvSpPr>
        <p:spPr>
          <a:xfrm>
            <a:off x="150532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 agent pulls out every date, fee and deadline in it.</a:t>
            </a:r>
          </a:p>
        </p:txBody>
      </p:sp>
      <p:sp>
        <p:nvSpPr>
          <p:cNvPr id="10" name="Rounded Rectangle 9"/>
          <p:cNvSpPr/>
          <p:nvPr/>
        </p:nvSpPr>
        <p:spPr>
          <a:xfrm>
            <a:off x="6562350" y="4792895"/>
            <a:ext cx="5163300" cy="25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It checks the whole family</a:t>
            </a:r>
          </a:p>
        </p:txBody>
      </p:sp>
      <p:sp>
        <p:nvSpPr>
          <p:cNvPr id="12" name="TextBox 11"/>
          <p:cNvSpPr txBox="1"/>
          <p:nvPr/>
        </p:nvSpPr>
        <p:spPr>
          <a:xfrm>
            <a:off x="692467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Ages, conflicts, the other kid's Tuesdays, what she said about last summer.</a:t>
            </a:r>
          </a:p>
        </p:txBody>
      </p:sp>
      <p:sp>
        <p:nvSpPr>
          <p:cNvPr id="13" name="Rounded Rectangle 12"/>
          <p:cNvSpPr/>
          <p:nvPr/>
        </p:nvSpPr>
        <p:spPr>
          <a:xfrm>
            <a:off x="11981700" y="4792895"/>
            <a:ext cx="5163300" cy="25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It watches what she can't</a:t>
            </a:r>
          </a:p>
        </p:txBody>
      </p:sp>
      <p:sp>
        <p:nvSpPr>
          <p:cNvPr id="15" name="TextBox 14"/>
          <p:cNvSpPr txBox="1"/>
          <p:nvPr/>
        </p:nvSpPr>
        <p:spPr>
          <a:xfrm>
            <a:off x="1234402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 registration window that opens in nine days at 9am.</a:t>
            </a:r>
          </a:p>
        </p:txBody>
      </p:sp>
      <p:sp>
        <p:nvSpPr>
          <p:cNvPr id="16" name="TextBox 15"/>
          <p:cNvSpPr txBox="1"/>
          <p:nvPr/>
        </p:nvSpPr>
        <p:spPr>
          <a:xfrm>
            <a:off x="1143000" y="7632895"/>
            <a:ext cx="16002000" cy="700000"/>
          </a:xfrm>
          <a:prstGeom prst="rect">
            <a:avLst/>
          </a:prstGeom>
          <a:noFill/>
        </p:spPr>
        <p:txBody>
          <a:bodyPr wrap="square" lIns="0" rIns="0" tIns="0" bIns="0" anchor="t">
            <a:noAutofit/>
          </a:bodyPr>
          <a:lstStyle/>
          <a:p>
            <a:pPr algn="l">
              <a:lnSpc>
                <a:spcPct val="130000"/>
              </a:lnSpc>
              <a:spcAft>
                <a:spcPts val="0"/>
              </a:spcAft>
            </a:pPr>
            <a:r>
              <a:rPr sz="2100" b="1" i="0">
                <a:solidFill>
                  <a:srgbClr val="282019"/>
                </a:solidFill>
                <a:latin typeface="Inter"/>
              </a:rPr>
              <a:t>One agent, one memory, five doors in:  camps · classes &amp; sports · school life · outings · trips</a:t>
            </a:r>
          </a:p>
        </p:txBody>
      </p:sp>
      <p:sp>
        <p:nvSpPr>
          <p:cNvPr id="17" name="TextBox 16"/>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8" name="TextBox 17"/>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WEDGE</a:t>
            </a:r>
          </a:p>
        </p:txBody>
      </p:sp>
      <p:sp>
        <p:nvSpPr>
          <p:cNvPr id="5" name="TextBox 4"/>
          <p:cNvSpPr txBox="1"/>
          <p:nvPr/>
        </p:nvSpPr>
        <p:spPr>
          <a:xfrm>
            <a:off x="1143000" y="1595450"/>
            <a:ext cx="1280160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The window opens at 9am</a:t>
            </a:r>
          </a:p>
          <a:p>
            <a:pPr algn="l">
              <a:lnSpc>
                <a:spcPct val="108000"/>
              </a:lnSpc>
              <a:spcAft>
                <a:spcPts val="0"/>
              </a:spcAft>
            </a:pPr>
            <a:r>
              <a:rPr sz="5400" b="1" i="0">
                <a:solidFill>
                  <a:srgbClr val="282019"/>
                </a:solidFill>
                <a:latin typeface="Fraunces"/>
              </a:rPr>
              <a:t>on a Tuesday in February.</a:t>
            </a:r>
          </a:p>
        </p:txBody>
      </p:sp>
      <p:sp>
        <p:nvSpPr>
          <p:cNvPr id="6" name="TextBox 5"/>
          <p:cNvSpPr txBox="1"/>
          <p:nvPr/>
        </p:nvSpPr>
        <p:spPr>
          <a:xfrm>
            <a:off x="1143000" y="3721370"/>
            <a:ext cx="1152144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Miss it and the camp is full, the summer has a hole in it, and the other parent finds out before you do. No national product watches these dates for parents.</a:t>
            </a:r>
          </a:p>
        </p:txBody>
      </p:sp>
      <p:sp>
        <p:nvSpPr>
          <p:cNvPr id="7" name="Rounded Rectangle 6"/>
          <p:cNvSpPr/>
          <p:nvPr/>
        </p:nvSpPr>
        <p:spPr>
          <a:xfrm>
            <a:off x="1143000" y="530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We watch the window</a:t>
            </a:r>
          </a:p>
        </p:txBody>
      </p:sp>
      <p:sp>
        <p:nvSpPr>
          <p:cNvPr id="9" name="TextBox 8"/>
          <p:cNvSpPr txBox="1"/>
          <p:nvPr/>
        </p:nvSpPr>
        <p:spPr>
          <a:xfrm>
            <a:off x="1505325" y="6173888"/>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Seven days out, and again before it opens. Never after.</a:t>
            </a:r>
          </a:p>
        </p:txBody>
      </p:sp>
      <p:sp>
        <p:nvSpPr>
          <p:cNvPr id="10" name="Rounded Rectangle 9"/>
          <p:cNvSpPr/>
          <p:nvPr/>
        </p:nvSpPr>
        <p:spPr>
          <a:xfrm>
            <a:off x="6562350" y="530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We confirm, we don't guess</a:t>
            </a:r>
          </a:p>
        </p:txBody>
      </p:sp>
      <p:sp>
        <p:nvSpPr>
          <p:cNvPr id="12" name="TextBox 11"/>
          <p:cNvSpPr txBox="1"/>
          <p:nvPr/>
        </p:nvSpPr>
        <p:spPr>
          <a:xfrm>
            <a:off x="6924675" y="6173888"/>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 date the agent researched stays labelled an estimate until the parent taps to confirm it.</a:t>
            </a:r>
          </a:p>
        </p:txBody>
      </p:sp>
      <p:sp>
        <p:nvSpPr>
          <p:cNvPr id="13" name="Rounded Rectangle 12"/>
          <p:cNvSpPr/>
          <p:nvPr/>
        </p:nvSpPr>
        <p:spPr>
          <a:xfrm>
            <a:off x="11981700" y="5300000"/>
            <a:ext cx="5163300" cy="292077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673843"/>
            <a:ext cx="4438650" cy="760090"/>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An alarm watches the watcher</a:t>
            </a:r>
          </a:p>
        </p:txBody>
      </p:sp>
      <p:sp>
        <p:nvSpPr>
          <p:cNvPr id="15" name="TextBox 14"/>
          <p:cNvSpPr txBox="1"/>
          <p:nvPr/>
        </p:nvSpPr>
        <p:spPr>
          <a:xfrm>
            <a:off x="12344025" y="6533933"/>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 miss detector pages us when a window closes unnotified. We do not expand past the pilot metros until it runs clean through a real season.</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EVIDENCE</a:t>
            </a:r>
          </a:p>
        </p:txBody>
      </p:sp>
      <p:sp>
        <p:nvSpPr>
          <p:cNvPr id="5" name="TextBox 4"/>
          <p:cNvSpPr txBox="1"/>
          <p:nvPr/>
        </p:nvSpPr>
        <p:spPr>
          <a:xfrm>
            <a:off x="1143000" y="1595450"/>
            <a:ext cx="1504188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It shows you the sentence it got the date from.</a:t>
            </a:r>
          </a:p>
        </p:txBody>
      </p:sp>
      <p:sp>
        <p:nvSpPr>
          <p:cNvPr id="6" name="TextBox 5"/>
          <p:cNvSpPr txBox="1"/>
          <p:nvPr/>
        </p:nvSpPr>
        <p:spPr>
          <a:xfrm>
            <a:off x="1143000" y="3721370"/>
            <a:ext cx="1376172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It puts the source sentence right beside the deadline, so a parent can see it invented nothing. That detail only exists when someone builds for five months instead of demoing for five weeks.</a:t>
            </a:r>
          </a:p>
        </p:txBody>
      </p:sp>
      <p:sp>
        <p:nvSpPr>
          <p:cNvPr id="7" name="Rounded Rectangle 6"/>
          <p:cNvSpPr/>
          <p:nvPr/>
        </p:nvSpPr>
        <p:spPr>
          <a:xfrm>
            <a:off x="1143000" y="4792895"/>
            <a:ext cx="5163300" cy="205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Live on TestFlight</a:t>
            </a:r>
          </a:p>
        </p:txBody>
      </p:sp>
      <p:sp>
        <p:nvSpPr>
          <p:cNvPr id="9" name="TextBox 8"/>
          <p:cNvSpPr txBox="1"/>
          <p:nvPr/>
        </p:nvSpPr>
        <p:spPr>
          <a:xfrm>
            <a:off x="150532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Onboarding, companions, and coaching grounded in a real family profile.</a:t>
            </a:r>
          </a:p>
        </p:txBody>
      </p:sp>
      <p:sp>
        <p:nvSpPr>
          <p:cNvPr id="10" name="Rounded Rectangle 9"/>
          <p:cNvSpPr/>
          <p:nvPr/>
        </p:nvSpPr>
        <p:spPr>
          <a:xfrm>
            <a:off x="6562350" y="4792895"/>
            <a:ext cx="5163300" cy="205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Backend in production</a:t>
            </a:r>
          </a:p>
        </p:txBody>
      </p:sp>
      <p:sp>
        <p:nvSpPr>
          <p:cNvPr id="12" name="TextBox 11"/>
          <p:cNvSpPr txBox="1"/>
          <p:nvPr/>
        </p:nvSpPr>
        <p:spPr>
          <a:xfrm>
            <a:off x="692467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24 schema migrations, 4 live alert rules, per-call cost telemetry.</a:t>
            </a:r>
          </a:p>
        </p:txBody>
      </p:sp>
      <p:sp>
        <p:nvSpPr>
          <p:cNvPr id="13" name="Rounded Rectangle 12"/>
          <p:cNvSpPr/>
          <p:nvPr/>
        </p:nvSpPr>
        <p:spPr>
          <a:xfrm>
            <a:off x="11981700" y="4792895"/>
            <a:ext cx="5163300" cy="205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16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Five-layer moderation</a:t>
            </a:r>
          </a:p>
        </p:txBody>
      </p:sp>
      <p:sp>
        <p:nvSpPr>
          <p:cNvPr id="15" name="TextBox 14"/>
          <p:cNvSpPr txBox="1"/>
          <p:nvPr/>
        </p:nvSpPr>
        <p:spPr>
          <a:xfrm>
            <a:off x="12344025" y="566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Crisis detection on a taxonomy aligned to 988 / SAMHSA vocabulary.</a:t>
            </a:r>
          </a:p>
        </p:txBody>
      </p:sp>
      <p:sp>
        <p:nvSpPr>
          <p:cNvPr id="16" name="Rounded Rectangle 15"/>
          <p:cNvSpPr/>
          <p:nvPr/>
        </p:nvSpPr>
        <p:spPr>
          <a:xfrm>
            <a:off x="1143000" y="7042895"/>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5325" y="741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Tested like infrastructure</a:t>
            </a:r>
          </a:p>
        </p:txBody>
      </p:sp>
      <p:sp>
        <p:nvSpPr>
          <p:cNvPr id="18" name="TextBox 17"/>
          <p:cNvSpPr txBox="1"/>
          <p:nvPr/>
        </p:nvSpPr>
        <p:spPr>
          <a:xfrm>
            <a:off x="1505325" y="7916783"/>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567 automated tests. 120 kid-safety evals. 29 flow specs driven against the real API.</a:t>
            </a:r>
          </a:p>
        </p:txBody>
      </p:sp>
      <p:sp>
        <p:nvSpPr>
          <p:cNvPr id="19" name="Rounded Rectangle 18"/>
          <p:cNvSpPr/>
          <p:nvPr/>
        </p:nvSpPr>
        <p:spPr>
          <a:xfrm>
            <a:off x="6562350" y="7042895"/>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24675" y="741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Voice, sub-150ms</a:t>
            </a:r>
          </a:p>
        </p:txBody>
      </p:sp>
      <p:sp>
        <p:nvSpPr>
          <p:cNvPr id="21" name="TextBox 20"/>
          <p:cNvSpPr txBox="1"/>
          <p:nvPr/>
        </p:nvSpPr>
        <p:spPr>
          <a:xfrm>
            <a:off x="6924675" y="791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Our backend stays the brain. The vendor only moves audio.</a:t>
            </a:r>
          </a:p>
        </p:txBody>
      </p:sp>
      <p:sp>
        <p:nvSpPr>
          <p:cNvPr id="22" name="Rounded Rectangle 21"/>
          <p:cNvSpPr/>
          <p:nvPr/>
        </p:nvSpPr>
        <p:spPr>
          <a:xfrm>
            <a:off x="11981700" y="7042895"/>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025" y="7416738"/>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Content taxonomy</a:t>
            </a:r>
          </a:p>
        </p:txBody>
      </p:sp>
      <p:sp>
        <p:nvSpPr>
          <p:cNvPr id="24" name="TextBox 23"/>
          <p:cNvSpPr txBox="1"/>
          <p:nvPr/>
        </p:nvSpPr>
        <p:spPr>
          <a:xfrm>
            <a:off x="12344025" y="7916783"/>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110 categories, 45 articles, 25 community posts mapped.</a:t>
            </a:r>
          </a:p>
        </p:txBody>
      </p:sp>
      <p:sp>
        <p:nvSpPr>
          <p:cNvPr id="25" name="TextBox 24"/>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26" name="TextBox 25"/>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SCALE CASE</a:t>
            </a:r>
          </a:p>
        </p:txBody>
      </p:sp>
      <p:sp>
        <p:nvSpPr>
          <p:cNvPr id="5" name="TextBox 4"/>
          <p:cNvSpPr txBox="1"/>
          <p:nvPr/>
        </p:nvSpPr>
        <p:spPr>
          <a:xfrm>
            <a:off x="1143000" y="1595450"/>
            <a:ext cx="1504188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Camps is the wedge. The household is the company.</a:t>
            </a:r>
          </a:p>
        </p:txBody>
      </p:sp>
      <p:sp>
        <p:nvSpPr>
          <p:cNvPr id="6" name="TextBox 5"/>
          <p:cNvSpPr txBox="1"/>
          <p:nvPr/>
        </p:nvSpPr>
        <p:spPr>
          <a:xfrm>
            <a:off x="1143000" y="3721370"/>
            <a:ext cx="1408176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A seasonal tool is a good business. This gets big because solving one deadline earns the right to the rest of the household, and the graph we build getting there cannot be bought.</a:t>
            </a:r>
          </a:p>
        </p:txBody>
      </p:sp>
      <p:sp>
        <p:nvSpPr>
          <p:cNvPr id="7" name="Rounded Rectangle 6"/>
          <p:cNvSpPr/>
          <p:nvPr/>
        </p:nvSpPr>
        <p:spPr>
          <a:xfrm>
            <a:off x="1143000" y="4792895"/>
            <a:ext cx="7872975" cy="20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1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Act one · the wedge</a:t>
            </a:r>
          </a:p>
        </p:txBody>
      </p:sp>
      <p:sp>
        <p:nvSpPr>
          <p:cNvPr id="9" name="TextBox 8"/>
          <p:cNvSpPr txBox="1"/>
          <p:nvPr/>
        </p:nvSpPr>
        <p:spPr>
          <a:xfrm>
            <a:off x="1505325" y="5666783"/>
            <a:ext cx="7148325"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Activities and coverage. One acute, recurring, seasonally forced pain.</a:t>
            </a:r>
          </a:p>
        </p:txBody>
      </p:sp>
      <p:sp>
        <p:nvSpPr>
          <p:cNvPr id="10" name="Rounded Rectangle 9"/>
          <p:cNvSpPr/>
          <p:nvPr/>
        </p:nvSpPr>
        <p:spPr>
          <a:xfrm>
            <a:off x="9272025" y="4792895"/>
            <a:ext cx="7872975" cy="20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34350" y="51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Act two · the household</a:t>
            </a:r>
          </a:p>
        </p:txBody>
      </p:sp>
      <p:sp>
        <p:nvSpPr>
          <p:cNvPr id="12" name="TextBox 11"/>
          <p:cNvSpPr txBox="1"/>
          <p:nvPr/>
        </p:nvSpPr>
        <p:spPr>
          <a:xfrm>
            <a:off x="9634350" y="5666783"/>
            <a:ext cx="7148325"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 agent already reads the email, the calendar and the paperwork. Medical and school logistics are adjacent, not new.</a:t>
            </a:r>
          </a:p>
        </p:txBody>
      </p:sp>
      <p:sp>
        <p:nvSpPr>
          <p:cNvPr id="13" name="Rounded Rectangle 12"/>
          <p:cNvSpPr/>
          <p:nvPr/>
        </p:nvSpPr>
        <p:spPr>
          <a:xfrm>
            <a:off x="1143000" y="6992895"/>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5325" y="73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Act three · the transaction</a:t>
            </a:r>
          </a:p>
        </p:txBody>
      </p:sp>
      <p:sp>
        <p:nvSpPr>
          <p:cNvPr id="15" name="TextBox 14"/>
          <p:cNvSpPr txBox="1"/>
          <p:nvPr/>
        </p:nvSpPr>
        <p:spPr>
          <a:xfrm>
            <a:off x="1505325" y="7866783"/>
            <a:ext cx="7148325"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We source registrations that today flow through nobody who knows the family. $3-4B a year in US camp fees alone.</a:t>
            </a:r>
          </a:p>
        </p:txBody>
      </p:sp>
      <p:sp>
        <p:nvSpPr>
          <p:cNvPr id="16" name="Rounded Rectangle 15"/>
          <p:cNvSpPr/>
          <p:nvPr/>
        </p:nvSpPr>
        <p:spPr>
          <a:xfrm>
            <a:off x="9272025" y="6992895"/>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34350" y="73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Why not OpenAI</a:t>
            </a:r>
          </a:p>
        </p:txBody>
      </p:sp>
      <p:sp>
        <p:nvSpPr>
          <p:cNvPr id="18" name="TextBox 17"/>
          <p:cNvSpPr txBox="1"/>
          <p:nvPr/>
        </p:nvSpPr>
        <p:spPr>
          <a:xfrm>
            <a:off x="9634350" y="7866783"/>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They will not take on child-safety liability, they do not have your family's graph, and trust here is won by a product a parent hands their kid, not by a better model.</a:t>
            </a:r>
          </a:p>
        </p:txBody>
      </p:sp>
      <p:sp>
        <p:nvSpPr>
          <p:cNvPr id="19" name="TextBox 18"/>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20" name="TextBox 19"/>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MOAT</a:t>
            </a:r>
          </a:p>
        </p:txBody>
      </p:sp>
      <p:sp>
        <p:nvSpPr>
          <p:cNvPr id="5" name="TextBox 4"/>
          <p:cNvSpPr txBox="1"/>
          <p:nvPr/>
        </p:nvSpPr>
        <p:spPr>
          <a:xfrm>
            <a:off x="1143000" y="1595450"/>
            <a:ext cx="16002000" cy="90296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What compounds.</a:t>
            </a:r>
          </a:p>
        </p:txBody>
      </p:sp>
      <p:sp>
        <p:nvSpPr>
          <p:cNvPr id="6" name="TextBox 5"/>
          <p:cNvSpPr txBox="1"/>
          <p:nvPr/>
        </p:nvSpPr>
        <p:spPr>
          <a:xfrm>
            <a:off x="1143000" y="2898410"/>
            <a:ext cx="1120140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The honest question at pre-seed is not what our moat is today. It is what we are accumulating.</a:t>
            </a:r>
          </a:p>
        </p:txBody>
      </p:sp>
      <p:sp>
        <p:nvSpPr>
          <p:cNvPr id="7" name="Rounded Rectangle 6"/>
          <p:cNvSpPr/>
          <p:nvPr/>
        </p:nvSpPr>
        <p:spPr>
          <a:xfrm>
            <a:off x="1143000" y="3969935"/>
            <a:ext cx="7872975" cy="225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434377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The family graph</a:t>
            </a:r>
          </a:p>
        </p:txBody>
      </p:sp>
      <p:sp>
        <p:nvSpPr>
          <p:cNvPr id="9" name="TextBox 8"/>
          <p:cNvSpPr txBox="1"/>
          <p:nvPr/>
        </p:nvSpPr>
        <p:spPr>
          <a:xfrm>
            <a:off x="1505325" y="4843823"/>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Ages, interests, custody rhythm, what you tried last year and what you said about it. Every conversation deepens it. A general assistant starts from zero every session, forever.</a:t>
            </a:r>
          </a:p>
        </p:txBody>
      </p:sp>
      <p:sp>
        <p:nvSpPr>
          <p:cNvPr id="10" name="Rounded Rectangle 9"/>
          <p:cNvSpPr/>
          <p:nvPr/>
        </p:nvSpPr>
        <p:spPr>
          <a:xfrm>
            <a:off x="9272025" y="3969935"/>
            <a:ext cx="7872975" cy="225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34350" y="434377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Safety as architecture</a:t>
            </a:r>
          </a:p>
        </p:txBody>
      </p:sp>
      <p:sp>
        <p:nvSpPr>
          <p:cNvPr id="12" name="TextBox 11"/>
          <p:cNvSpPr txBox="1"/>
          <p:nvPr/>
        </p:nvSpPr>
        <p:spPr>
          <a:xfrm>
            <a:off x="9634350" y="4843823"/>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Five layers, and a crisis lock that freezes the conversation and pushes the parent's phone, verified on a physical device. Months of work, and the part a fast follower skips.</a:t>
            </a:r>
          </a:p>
        </p:txBody>
      </p:sp>
      <p:sp>
        <p:nvSpPr>
          <p:cNvPr id="13" name="Rounded Rectangle 12"/>
          <p:cNvSpPr/>
          <p:nvPr/>
        </p:nvSpPr>
        <p:spPr>
          <a:xfrm>
            <a:off x="1143000" y="6419935"/>
            <a:ext cx="7872975" cy="290743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5325" y="679377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Evals that keep it honest</a:t>
            </a:r>
          </a:p>
        </p:txBody>
      </p:sp>
      <p:sp>
        <p:nvSpPr>
          <p:cNvPr id="15" name="TextBox 14"/>
          <p:cNvSpPr txBox="1"/>
          <p:nvPr/>
        </p:nvSpPr>
        <p:spPr>
          <a:xfrm>
            <a:off x="1505325" y="7293823"/>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Every change to a prompt or a tool re-runs a live-model golden set before it ships. It is why the agent still works in month eight.</a:t>
            </a:r>
          </a:p>
        </p:txBody>
      </p:sp>
      <p:sp>
        <p:nvSpPr>
          <p:cNvPr id="16" name="Rounded Rectangle 15"/>
          <p:cNvSpPr/>
          <p:nvPr/>
        </p:nvSpPr>
        <p:spPr>
          <a:xfrm>
            <a:off x="9272025" y="6419935"/>
            <a:ext cx="7872975" cy="290743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34350" y="679377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Solo-first coordination</a:t>
            </a:r>
          </a:p>
        </p:txBody>
      </p:sp>
      <p:sp>
        <p:nvSpPr>
          <p:cNvPr id="18" name="TextBox 17"/>
          <p:cNvSpPr txBox="1"/>
          <p:nvPr/>
        </p:nvSpPr>
        <p:spPr>
          <a:xfrm>
            <a:off x="9634350" y="7293823"/>
            <a:ext cx="7148325" cy="177355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 co-parenting app only learns how a family runs once both parents sign up. We learn it from one side, then confirm it through the invites the other parent accepts. Our graph grows at one account per family. Theirs needs two, and the second is the one that says no.</a:t>
            </a:r>
          </a:p>
        </p:txBody>
      </p:sp>
      <p:sp>
        <p:nvSpPr>
          <p:cNvPr id="19" name="TextBox 18"/>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20" name="TextBox 19"/>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SAFETY</a:t>
            </a:r>
          </a:p>
        </p:txBody>
      </p:sp>
      <p:sp>
        <p:nvSpPr>
          <p:cNvPr id="5" name="TextBox 4"/>
          <p:cNvSpPr txBox="1"/>
          <p:nvPr/>
        </p:nvSpPr>
        <p:spPr>
          <a:xfrm>
            <a:off x="1143000" y="1595450"/>
            <a:ext cx="1504188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If a child is in crisis, a parent's phone rings.</a:t>
            </a:r>
          </a:p>
        </p:txBody>
      </p:sp>
      <p:sp>
        <p:nvSpPr>
          <p:cNvPr id="6" name="TextBox 5"/>
          <p:cNvSpPr txBox="1"/>
          <p:nvPr/>
        </p:nvSpPr>
        <p:spPr>
          <a:xfrm>
            <a:off x="1143000" y="3721370"/>
            <a:ext cx="1408176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Safety here is architecture, not a content filter bolted onto a chatbot. Five layers sit between a child and a wrong answer, and when it matters the system stops talking and gets a human involved.</a:t>
            </a:r>
          </a:p>
        </p:txBody>
      </p:sp>
      <p:sp>
        <p:nvSpPr>
          <p:cNvPr id="7" name="Rounded Rectangle 6"/>
          <p:cNvSpPr/>
          <p:nvPr/>
        </p:nvSpPr>
        <p:spPr>
          <a:xfrm>
            <a:off x="1143000" y="4792895"/>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1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Five layers</a:t>
            </a:r>
          </a:p>
        </p:txBody>
      </p:sp>
      <p:sp>
        <p:nvSpPr>
          <p:cNvPr id="9" name="TextBox 8"/>
          <p:cNvSpPr txBox="1"/>
          <p:nvPr/>
        </p:nvSpPr>
        <p:spPr>
          <a:xfrm>
            <a:off x="1505325" y="5666783"/>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Deterministic patterns, a moderation API, an age classifier, a streaming token-level monitor, and a final output check. The model sits on top of the backstop, never underneath it.</a:t>
            </a:r>
          </a:p>
        </p:txBody>
      </p:sp>
      <p:sp>
        <p:nvSpPr>
          <p:cNvPr id="10" name="Rounded Rectangle 9"/>
          <p:cNvSpPr/>
          <p:nvPr/>
        </p:nvSpPr>
        <p:spPr>
          <a:xfrm>
            <a:off x="9272025" y="4792895"/>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34350" y="5166738"/>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 real taxonomy</a:t>
            </a:r>
          </a:p>
        </p:txBody>
      </p:sp>
      <p:sp>
        <p:nvSpPr>
          <p:cNvPr id="12" name="TextBox 11"/>
          <p:cNvSpPr txBox="1"/>
          <p:nvPr/>
        </p:nvSpPr>
        <p:spPr>
          <a:xfrm>
            <a:off x="9634350" y="5666783"/>
            <a:ext cx="7148325"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Severity aligned to 988 / SAMHSA ideation vocabulary and reviewed against pediatric safety practice.</a:t>
            </a:r>
          </a:p>
        </p:txBody>
      </p:sp>
      <p:sp>
        <p:nvSpPr>
          <p:cNvPr id="13" name="Rounded Rectangle 12"/>
          <p:cNvSpPr/>
          <p:nvPr/>
        </p:nvSpPr>
        <p:spPr>
          <a:xfrm>
            <a:off x="1143000" y="7206913"/>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5325" y="7580756"/>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The parent is paged</a:t>
            </a:r>
          </a:p>
        </p:txBody>
      </p:sp>
      <p:sp>
        <p:nvSpPr>
          <p:cNvPr id="15" name="TextBox 14"/>
          <p:cNvSpPr txBox="1"/>
          <p:nvPr/>
        </p:nvSpPr>
        <p:spPr>
          <a:xfrm>
            <a:off x="1505325" y="8080801"/>
            <a:ext cx="7148325"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A crisis freezes the conversation, shows the child real resources, and pushes the parent's phone. Verified on device, July 2026.</a:t>
            </a:r>
          </a:p>
        </p:txBody>
      </p:sp>
      <p:sp>
        <p:nvSpPr>
          <p:cNvPr id="16" name="Rounded Rectangle 15"/>
          <p:cNvSpPr/>
          <p:nvPr/>
        </p:nvSpPr>
        <p:spPr>
          <a:xfrm>
            <a:off x="9272025" y="7206913"/>
            <a:ext cx="7872975"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34350" y="7580756"/>
            <a:ext cx="7148325"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Privacy as a position</a:t>
            </a:r>
          </a:p>
        </p:txBody>
      </p:sp>
      <p:sp>
        <p:nvSpPr>
          <p:cNvPr id="18" name="TextBox 17"/>
          <p:cNvSpPr txBox="1"/>
          <p:nvPr/>
        </p:nvSpPr>
        <p:spPr>
          <a:xfrm>
            <a:off x="9634350" y="8080801"/>
            <a:ext cx="7148325"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Logistics data is durable and exportable. The coaching conversation is designed to leave nothing behind.</a:t>
            </a:r>
          </a:p>
        </p:txBody>
      </p:sp>
      <p:sp>
        <p:nvSpPr>
          <p:cNvPr id="19" name="TextBox 18"/>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20" name="TextBox 19"/>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MARKET</a:t>
            </a:r>
          </a:p>
        </p:txBody>
      </p:sp>
      <p:sp>
        <p:nvSpPr>
          <p:cNvPr id="5" name="TextBox 4"/>
          <p:cNvSpPr txBox="1"/>
          <p:nvPr/>
        </p:nvSpPr>
        <p:spPr>
          <a:xfrm>
            <a:off x="1143000" y="1595450"/>
            <a:ext cx="1440180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Parents already pay. Twice, and for less.</a:t>
            </a:r>
          </a:p>
        </p:txBody>
      </p:sp>
      <p:sp>
        <p:nvSpPr>
          <p:cNvPr id="6" name="TextBox 5"/>
          <p:cNvSpPr txBox="1"/>
          <p:nvPr/>
        </p:nvSpPr>
        <p:spPr>
          <a:xfrm>
            <a:off x="1143000" y="3721370"/>
            <a:ext cx="1120140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We are not sizing a circle. We are pointing at cash registers already ringing next door.</a:t>
            </a:r>
          </a:p>
        </p:txBody>
      </p:sp>
      <p:sp>
        <p:nvSpPr>
          <p:cNvPr id="7" name="Rounded Rectangle 6"/>
          <p:cNvSpPr/>
          <p:nvPr/>
        </p:nvSpPr>
        <p:spPr>
          <a:xfrm>
            <a:off x="1143000" y="4792895"/>
            <a:ext cx="5163300" cy="36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126738"/>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$34M</a:t>
            </a:r>
          </a:p>
        </p:txBody>
      </p:sp>
      <p:sp>
        <p:nvSpPr>
          <p:cNvPr id="9" name="TextBox 8"/>
          <p:cNvSpPr txBox="1"/>
          <p:nvPr/>
        </p:nvSpPr>
        <p:spPr>
          <a:xfrm>
            <a:off x="1505325" y="6356738"/>
            <a:ext cx="4438650" cy="19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Good Inside's 2025 revenue. 100,000+ subscribers at roughly $276 a year, for parenting advice with no coordination and no deadlines.</a:t>
            </a:r>
          </a:p>
          <a:p>
            <a:pPr algn="l">
              <a:lnSpc>
                <a:spcPct val="130000"/>
              </a:lnSpc>
              <a:spcAft>
                <a:spcPts val="0"/>
              </a:spcAft>
            </a:pPr>
            <a:r>
              <a:rPr sz="1250" b="0" i="0">
                <a:solidFill>
                  <a:srgbClr val="9A9080"/>
                </a:solidFill>
                <a:latin typeface="JetBrains Mono"/>
              </a:rPr>
              <a:t>Fortune · Feb 2026</a:t>
            </a:r>
          </a:p>
        </p:txBody>
      </p:sp>
      <p:sp>
        <p:nvSpPr>
          <p:cNvPr id="10" name="Rounded Rectangle 9"/>
          <p:cNvSpPr/>
          <p:nvPr/>
        </p:nvSpPr>
        <p:spPr>
          <a:xfrm>
            <a:off x="6562350" y="4792895"/>
            <a:ext cx="5163300" cy="36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126738"/>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$110-300</a:t>
            </a:r>
          </a:p>
        </p:txBody>
      </p:sp>
      <p:sp>
        <p:nvSpPr>
          <p:cNvPr id="12" name="TextBox 11"/>
          <p:cNvSpPr txBox="1"/>
          <p:nvPr/>
        </p:nvSpPr>
        <p:spPr>
          <a:xfrm>
            <a:off x="6924675" y="6356738"/>
            <a:ext cx="4438650" cy="19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OurFamilyWizard's annual price, charged per parent. Two-household families already pay twice, for software built to be read by a judge.</a:t>
            </a:r>
          </a:p>
          <a:p>
            <a:pPr algn="l">
              <a:lnSpc>
                <a:spcPct val="130000"/>
              </a:lnSpc>
              <a:spcAft>
                <a:spcPts val="0"/>
              </a:spcAft>
            </a:pPr>
            <a:r>
              <a:rPr sz="1250" b="0" i="0">
                <a:solidFill>
                  <a:srgbClr val="9A9080"/>
                </a:solidFill>
                <a:latin typeface="JetBrains Mono"/>
              </a:rPr>
              <a:t>OurFamilyWizard pricing page</a:t>
            </a:r>
          </a:p>
        </p:txBody>
      </p:sp>
      <p:sp>
        <p:nvSpPr>
          <p:cNvPr id="13" name="Rounded Rectangle 12"/>
          <p:cNvSpPr/>
          <p:nvPr/>
        </p:nvSpPr>
        <p:spPr>
          <a:xfrm>
            <a:off x="11981700" y="4792895"/>
            <a:ext cx="5163300" cy="36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126738"/>
            <a:ext cx="4438650" cy="1250000"/>
          </a:xfrm>
          <a:prstGeom prst="rect">
            <a:avLst/>
          </a:prstGeom>
          <a:noFill/>
        </p:spPr>
        <p:txBody>
          <a:bodyPr wrap="square" lIns="0" rIns="0" tIns="0" bIns="0" anchor="t">
            <a:noAutofit/>
          </a:bodyPr>
          <a:lstStyle/>
          <a:p>
            <a:pPr algn="l">
              <a:lnSpc>
                <a:spcPct val="100000"/>
              </a:lnSpc>
              <a:spcAft>
                <a:spcPts val="0"/>
              </a:spcAft>
            </a:pPr>
            <a:r>
              <a:rPr sz="6800" b="1" i="0">
                <a:solidFill>
                  <a:srgbClr val="1B7498"/>
                </a:solidFill>
                <a:latin typeface="Fraunces"/>
              </a:rPr>
              <a:t>$3-4B</a:t>
            </a:r>
          </a:p>
        </p:txBody>
      </p:sp>
      <p:sp>
        <p:nvSpPr>
          <p:cNvPr id="15" name="TextBox 14"/>
          <p:cNvSpPr txBox="1"/>
          <p:nvPr/>
        </p:nvSpPr>
        <p:spPr>
          <a:xfrm>
            <a:off x="12344025" y="6356738"/>
            <a:ext cx="4438650" cy="1976157"/>
          </a:xfrm>
          <a:prstGeom prst="rect">
            <a:avLst/>
          </a:prstGeom>
          <a:noFill/>
        </p:spPr>
        <p:txBody>
          <a:bodyPr wrap="square" lIns="0" rIns="0" tIns="0" bIns="0" anchor="t">
            <a:noAutofit/>
          </a:bodyPr>
          <a:lstStyle/>
          <a:p>
            <a:pPr algn="l">
              <a:lnSpc>
                <a:spcPct val="130000"/>
              </a:lnSpc>
              <a:spcAft>
                <a:spcPts val="0"/>
              </a:spcAft>
            </a:pPr>
            <a:r>
              <a:rPr sz="1950" b="0" i="0">
                <a:solidFill>
                  <a:srgbClr val="282019"/>
                </a:solidFill>
                <a:latin typeface="Inter"/>
              </a:rPr>
              <a:t>US summer camp registrations a year, intermediated today by nobody who knows the family.</a:t>
            </a:r>
          </a:p>
          <a:p>
            <a:pPr algn="l">
              <a:lnSpc>
                <a:spcPct val="130000"/>
              </a:lnSpc>
              <a:spcAft>
                <a:spcPts val="0"/>
              </a:spcAft>
            </a:pPr>
            <a:r>
              <a:rPr sz="1250" b="0" i="0">
                <a:solidFill>
                  <a:srgbClr val="9A9080"/>
                </a:solidFill>
                <a:latin typeface="JetBrains Mono"/>
              </a:rPr>
              <a:t>Category estimate</a:t>
            </a:r>
          </a:p>
        </p:txBody>
      </p:sp>
      <p:sp>
        <p:nvSpPr>
          <p:cNvPr id="16" name="TextBox 15"/>
          <p:cNvSpPr txBox="1"/>
          <p:nvPr/>
        </p:nvSpPr>
        <p:spPr>
          <a:xfrm>
            <a:off x="1143000" y="8592895"/>
            <a:ext cx="14721840" cy="750000"/>
          </a:xfrm>
          <a:prstGeom prst="rect">
            <a:avLst/>
          </a:prstGeom>
          <a:noFill/>
        </p:spPr>
        <p:txBody>
          <a:bodyPr wrap="square" lIns="0" rIns="0" tIns="0" bIns="0" anchor="t">
            <a:noAutofit/>
          </a:bodyPr>
          <a:lstStyle/>
          <a:p>
            <a:pPr algn="l">
              <a:lnSpc>
                <a:spcPct val="130000"/>
              </a:lnSpc>
              <a:spcAft>
                <a:spcPts val="0"/>
              </a:spcAft>
            </a:pPr>
            <a:r>
              <a:rPr sz="2000" b="0" i="0">
                <a:solidFill>
                  <a:srgbClr val="282019"/>
                </a:solidFill>
                <a:latin typeface="Inter"/>
              </a:rPr>
              <a:t>100,000 families at $129 a year is $12.9M of ARR. Good Inside reached that subscriber count selling advice alone. We price at about 3% of what the activities themselves cost, one payer, hard paywall after a trial.</a:t>
            </a:r>
          </a:p>
        </p:txBody>
      </p:sp>
      <p:sp>
        <p:nvSpPr>
          <p:cNvPr id="17" name="TextBox 16"/>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8" name="TextBox 17"/>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WHY WE WIN</a:t>
            </a:r>
          </a:p>
        </p:txBody>
      </p:sp>
      <p:sp>
        <p:nvSpPr>
          <p:cNvPr id="5" name="TextBox 4"/>
          <p:cNvSpPr txBox="1"/>
          <p:nvPr/>
        </p:nvSpPr>
        <p:spPr>
          <a:xfrm>
            <a:off x="1143000" y="2900000"/>
            <a:ext cx="13121640" cy="2274560"/>
          </a:xfrm>
          <a:prstGeom prst="rect">
            <a:avLst/>
          </a:prstGeom>
          <a:noFill/>
        </p:spPr>
        <p:txBody>
          <a:bodyPr wrap="square" lIns="0" rIns="0" tIns="0" bIns="0" anchor="t">
            <a:noAutofit/>
          </a:bodyPr>
          <a:lstStyle/>
          <a:p>
            <a:pPr algn="l">
              <a:lnSpc>
                <a:spcPct val="108000"/>
              </a:lnSpc>
              <a:spcAft>
                <a:spcPts val="0"/>
              </a:spcAft>
            </a:pPr>
            <a:r>
              <a:rPr sz="7200" b="1" i="0">
                <a:solidFill>
                  <a:srgbClr val="282019"/>
                </a:solidFill>
                <a:latin typeface="Fraunces"/>
              </a:rPr>
              <a:t>Every other app needs</a:t>
            </a:r>
          </a:p>
          <a:p>
            <a:pPr algn="l">
              <a:lnSpc>
                <a:spcPct val="108000"/>
              </a:lnSpc>
              <a:spcAft>
                <a:spcPts val="0"/>
              </a:spcAft>
            </a:pPr>
            <a:r>
              <a:rPr sz="7200" b="1" i="0">
                <a:solidFill>
                  <a:srgbClr val="282019"/>
                </a:solidFill>
                <a:latin typeface="Fraunces"/>
              </a:rPr>
              <a:t>your ex to sign up.</a:t>
            </a:r>
          </a:p>
        </p:txBody>
      </p:sp>
      <p:sp>
        <p:nvSpPr>
          <p:cNvPr id="6" name="TextBox 5"/>
          <p:cNvSpPr txBox="1"/>
          <p:nvPr/>
        </p:nvSpPr>
        <p:spPr>
          <a:xfrm>
            <a:off x="1143000" y="6100000"/>
            <a:ext cx="9921240" cy="1294440"/>
          </a:xfrm>
          <a:prstGeom prst="rect">
            <a:avLst/>
          </a:prstGeom>
          <a:noFill/>
        </p:spPr>
        <p:txBody>
          <a:bodyPr wrap="square" lIns="0" rIns="0" tIns="0" bIns="0" anchor="t">
            <a:noAutofit/>
          </a:bodyPr>
          <a:lstStyle/>
          <a:p>
            <a:pPr algn="l">
              <a:lnSpc>
                <a:spcPct val="135000"/>
              </a:lnSpc>
              <a:spcAft>
                <a:spcPts val="0"/>
              </a:spcAft>
            </a:pPr>
            <a:r>
              <a:rPr sz="2400" b="0" i="0">
                <a:solidFill>
                  <a:srgbClr val="6E6455"/>
                </a:solidFill>
                <a:latin typeface="Inter"/>
              </a:rPr>
              <a:t>TalkingParents publishes a help article called “What if my co-parent won't sign up?” The industry's answer is a contempt motion. Ours is a calendar invite.</a:t>
            </a:r>
          </a:p>
        </p:txBody>
      </p:sp>
      <p:sp>
        <p:nvSpPr>
          <p:cNvPr id="7" name="TextBox 6"/>
          <p:cNvSpPr txBox="1"/>
          <p:nvPr/>
        </p:nvSpPr>
        <p:spPr>
          <a:xfrm>
            <a:off x="1143000" y="8000000"/>
            <a:ext cx="12801600" cy="600000"/>
          </a:xfrm>
          <a:prstGeom prst="rect">
            <a:avLst/>
          </a:prstGeom>
          <a:noFill/>
        </p:spPr>
        <p:txBody>
          <a:bodyPr wrap="square" lIns="0" rIns="0" tIns="0" bIns="0" anchor="t">
            <a:noAutofit/>
          </a:bodyPr>
          <a:lstStyle/>
          <a:p>
            <a:pPr algn="l">
              <a:lnSpc>
                <a:spcPct val="130000"/>
              </a:lnSpc>
              <a:spcAft>
                <a:spcPts val="0"/>
              </a:spcAft>
            </a:pPr>
            <a:r>
              <a:rPr sz="1900" b="0" i="0">
                <a:solidFill>
                  <a:srgbClr val="9A9080"/>
                </a:solidFill>
                <a:latin typeface="Inter"/>
              </a:rPr>
              <a:t>They document the fight. We prevent it. ChatGPT is better than us at nearly everything and has never heard of your custody schedule.</a:t>
            </a:r>
          </a:p>
        </p:txBody>
      </p:sp>
      <p:sp>
        <p:nvSpPr>
          <p:cNvPr id="8" name="TextBox 7"/>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9" name="TextBox 8"/>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WHERE WE ARE</a:t>
            </a:r>
          </a:p>
        </p:txBody>
      </p:sp>
      <p:sp>
        <p:nvSpPr>
          <p:cNvPr id="5" name="TextBox 4"/>
          <p:cNvSpPr txBox="1"/>
          <p:nvPr/>
        </p:nvSpPr>
        <p:spPr>
          <a:xfrm>
            <a:off x="1143000" y="1595450"/>
            <a:ext cx="14401800" cy="90296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Five months. In stealth. On purpose.</a:t>
            </a:r>
          </a:p>
        </p:txBody>
      </p:sp>
      <p:sp>
        <p:nvSpPr>
          <p:cNvPr id="6" name="TextBox 5"/>
          <p:cNvSpPr txBox="1"/>
          <p:nvPr/>
        </p:nvSpPr>
        <p:spPr>
          <a:xfrm>
            <a:off x="1143000" y="2898410"/>
            <a:ext cx="1184148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We have not launched. We spent the time on what kills consumer AI companies: reliability, safety, and the evals that keep both true after the demo.</a:t>
            </a:r>
          </a:p>
        </p:txBody>
      </p:sp>
      <p:sp>
        <p:nvSpPr>
          <p:cNvPr id="7" name="Rounded Rectangle 6"/>
          <p:cNvSpPr/>
          <p:nvPr/>
        </p:nvSpPr>
        <p:spPr>
          <a:xfrm>
            <a:off x="1143000" y="4300000"/>
            <a:ext cx="5163300" cy="34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4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What is built</a:t>
            </a:r>
          </a:p>
        </p:txBody>
      </p:sp>
      <p:sp>
        <p:nvSpPr>
          <p:cNvPr id="9" name="TextBox 8"/>
          <p:cNvSpPr txBox="1"/>
          <p:nvPr/>
        </p:nvSpPr>
        <p:spPr>
          <a:xfrm>
            <a:off x="1505325" y="5173888"/>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Five verticals live in production. A 20-tool agent. 98 TestFlight builds. 21 parent-facing releases in the last 24 days.</a:t>
            </a:r>
          </a:p>
        </p:txBody>
      </p:sp>
      <p:sp>
        <p:nvSpPr>
          <p:cNvPr id="10" name="Rounded Rectangle 9"/>
          <p:cNvSpPr/>
          <p:nvPr/>
        </p:nvSpPr>
        <p:spPr>
          <a:xfrm>
            <a:off x="6562350" y="4300000"/>
            <a:ext cx="5163300" cy="34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4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What is not</a:t>
            </a:r>
          </a:p>
        </p:txBody>
      </p:sp>
      <p:sp>
        <p:nvSpPr>
          <p:cNvPr id="12" name="TextBox 11"/>
          <p:cNvSpPr txBox="1"/>
          <p:nvPr/>
        </p:nvSpPr>
        <p:spPr>
          <a:xfrm>
            <a:off x="6924675" y="5173888"/>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No public launch. No revenue. No paywall in the app yet. We are not dressing a beta up as traction.</a:t>
            </a:r>
          </a:p>
        </p:txBody>
      </p:sp>
      <p:sp>
        <p:nvSpPr>
          <p:cNvPr id="13" name="Rounded Rectangle 12"/>
          <p:cNvSpPr/>
          <p:nvPr/>
        </p:nvSpPr>
        <p:spPr>
          <a:xfrm>
            <a:off x="11981700" y="4300000"/>
            <a:ext cx="5163300" cy="34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4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How we will know</a:t>
            </a:r>
          </a:p>
        </p:txBody>
      </p:sp>
      <p:sp>
        <p:nvSpPr>
          <p:cNvPr id="15" name="TextBox 14"/>
          <p:cNvSpPr txBox="1"/>
          <p:nvPr/>
        </p:nvSpPr>
        <p:spPr>
          <a:xfrm>
            <a:off x="12344025" y="5173888"/>
            <a:ext cx="4438650" cy="212026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 gates are written down in advance, with the numbers that would make us stop: median willingness to pay at or above $100, cost per email at or under $5, and 90-day retention above 30% before we scale spend.</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TEAM</a:t>
            </a:r>
          </a:p>
        </p:txBody>
      </p:sp>
      <p:sp>
        <p:nvSpPr>
          <p:cNvPr id="5" name="TextBox 4"/>
          <p:cNvSpPr txBox="1"/>
          <p:nvPr/>
        </p:nvSpPr>
        <p:spPr>
          <a:xfrm>
            <a:off x="1143000" y="1595450"/>
            <a:ext cx="1376172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Both of our beachhead customers</a:t>
            </a:r>
          </a:p>
          <a:p>
            <a:pPr algn="l">
              <a:lnSpc>
                <a:spcPct val="108000"/>
              </a:lnSpc>
              <a:spcAft>
                <a:spcPts val="0"/>
              </a:spcAft>
            </a:pPr>
            <a:r>
              <a:rPr sz="5400" b="1" i="0">
                <a:solidFill>
                  <a:srgbClr val="282019"/>
                </a:solidFill>
                <a:latin typeface="Fraunces"/>
              </a:rPr>
              <a:t>are sitting at the table.</a:t>
            </a:r>
          </a:p>
        </p:txBody>
      </p:sp>
      <p:sp>
        <p:nvSpPr>
          <p:cNvPr id="6" name="TextBox 5"/>
          <p:cNvSpPr txBox="1"/>
          <p:nvPr/>
        </p:nvSpPr>
        <p:spPr>
          <a:xfrm>
            <a:off x="1143000" y="3721370"/>
            <a:ext cx="1184148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Founder-market fit here is structural. Two founders, two different household structures, overlapping kid ages. The product's two personas are the two people building it.</a:t>
            </a:r>
          </a:p>
        </p:txBody>
      </p:sp>
      <p:sp>
        <p:nvSpPr>
          <p:cNvPr id="7" name="Rounded Rectangle 6"/>
          <p:cNvSpPr/>
          <p:nvPr/>
        </p:nvSpPr>
        <p:spPr>
          <a:xfrm>
            <a:off x="1143000" y="5300000"/>
            <a:ext cx="5163300" cy="361419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673843"/>
            <a:ext cx="4438650" cy="760090"/>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Heather Hannan-Kramer · CEO</a:t>
            </a:r>
          </a:p>
        </p:txBody>
      </p:sp>
      <p:sp>
        <p:nvSpPr>
          <p:cNvPr id="9" name="TextBox 8"/>
          <p:cNvSpPr txBox="1"/>
          <p:nvPr/>
        </p:nvSpPr>
        <p:spPr>
          <a:xfrm>
            <a:off x="1505325" y="6533933"/>
            <a:ext cx="4438650" cy="212026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Parent, educator, consultant. Originated the concept before the pandemic. Owns product vision, audience research and go-to-market. The coordinating mother the product is designed for, with two girls at home.</a:t>
            </a:r>
          </a:p>
        </p:txBody>
      </p:sp>
      <p:sp>
        <p:nvSpPr>
          <p:cNvPr id="10" name="Rounded Rectangle 9"/>
          <p:cNvSpPr/>
          <p:nvPr/>
        </p:nvSpPr>
        <p:spPr>
          <a:xfrm>
            <a:off x="6562350" y="5300000"/>
            <a:ext cx="5163300" cy="361419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Miguel Alvarado · CTO</a:t>
            </a:r>
          </a:p>
        </p:txBody>
      </p:sp>
      <p:sp>
        <p:nvSpPr>
          <p:cNvPr id="12" name="TextBox 11"/>
          <p:cNvSpPr txBox="1"/>
          <p:nvPr/>
        </p:nvSpPr>
        <p:spPr>
          <a:xfrm>
            <a:off x="6924675" y="6173888"/>
            <a:ext cx="4438650" cy="177355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Single father of two. Thirty years shipping software, thirteen in AI, twice a CTO. Built the whole stack: the native Swift app, the agent backend, the
moderation system, the deploy.</a:t>
            </a:r>
          </a:p>
        </p:txBody>
      </p:sp>
      <p:sp>
        <p:nvSpPr>
          <p:cNvPr id="13" name="Rounded Rectangle 12"/>
          <p:cNvSpPr/>
          <p:nvPr/>
        </p:nvSpPr>
        <p:spPr>
          <a:xfrm>
            <a:off x="11981700" y="5300000"/>
            <a:ext cx="5163300" cy="3614193"/>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6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Greg Harris · Design</a:t>
            </a:r>
          </a:p>
        </p:txBody>
      </p:sp>
      <p:sp>
        <p:nvSpPr>
          <p:cNvPr id="15" name="TextBox 14"/>
          <p:cNvSpPr txBox="1"/>
          <p:nvPr/>
        </p:nvSpPr>
        <p:spPr>
          <a:xfrm>
            <a:off x="12344025" y="6173888"/>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Grandparent, and a design leader on consumer products. Owns visual identity and the user journey from prototype to market.</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TECHNICAL CO-FOUNDER</a:t>
            </a:r>
          </a:p>
        </p:txBody>
      </p:sp>
      <p:sp>
        <p:nvSpPr>
          <p:cNvPr id="5" name="TextBox 4"/>
          <p:cNvSpPr txBox="1"/>
          <p:nvPr/>
        </p:nvSpPr>
        <p:spPr>
          <a:xfrm>
            <a:off x="1143000" y="1595450"/>
            <a:ext cx="14081760" cy="172592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Thirty years of range, in the year</a:t>
            </a:r>
          </a:p>
          <a:p>
            <a:pPr algn="l">
              <a:lnSpc>
                <a:spcPct val="108000"/>
              </a:lnSpc>
              <a:spcAft>
                <a:spcPts val="0"/>
              </a:spcAft>
            </a:pPr>
            <a:r>
              <a:rPr sz="5400" b="1" i="0">
                <a:solidFill>
                  <a:srgbClr val="282019"/>
                </a:solidFill>
                <a:latin typeface="Fraunces"/>
              </a:rPr>
              <a:t>range became the qualification.</a:t>
            </a:r>
          </a:p>
        </p:txBody>
      </p:sp>
      <p:sp>
        <p:nvSpPr>
          <p:cNvPr id="6" name="TextBox 5"/>
          <p:cNvSpPr txBox="1"/>
          <p:nvPr/>
        </p:nvSpPr>
        <p:spPr>
          <a:xfrm>
            <a:off x="1143000" y="3721370"/>
            <a:ext cx="1472184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Breadth used to be a liability. AI inverted that: when one engineer holds the backend, the app, the model layer and the deploy in one head, the person who has worked at every layer is the one who ships.</a:t>
            </a:r>
          </a:p>
        </p:txBody>
      </p:sp>
      <p:sp>
        <p:nvSpPr>
          <p:cNvPr id="7" name="Rounded Rectangle 6"/>
          <p:cNvSpPr/>
          <p:nvPr/>
        </p:nvSpPr>
        <p:spPr>
          <a:xfrm>
            <a:off x="1143000" y="5000000"/>
            <a:ext cx="5163300" cy="325414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5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30 years shipping</a:t>
            </a:r>
          </a:p>
        </p:txBody>
      </p:sp>
      <p:sp>
        <p:nvSpPr>
          <p:cNvPr id="9" name="TextBox 8"/>
          <p:cNvSpPr txBox="1"/>
          <p:nvPr/>
        </p:nvSpPr>
        <p:spPr>
          <a:xfrm>
            <a:off x="1505325" y="5873888"/>
            <a:ext cx="4438650" cy="177355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Microsoft in the Web 1.0 era. Brightcove through IPO, 450M players and ~1.3B daily video views. Intel Media's OnCue through the Verizon acquisition. VP Engineering at Vevo.</a:t>
            </a:r>
          </a:p>
        </p:txBody>
      </p:sp>
      <p:sp>
        <p:nvSpPr>
          <p:cNvPr id="10" name="Rounded Rectangle 9"/>
          <p:cNvSpPr/>
          <p:nvPr/>
        </p:nvSpPr>
        <p:spPr>
          <a:xfrm>
            <a:off x="6562350" y="5000000"/>
            <a:ext cx="5163300" cy="325414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5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13 years in AI</a:t>
            </a:r>
          </a:p>
        </p:txBody>
      </p:sp>
      <p:sp>
        <p:nvSpPr>
          <p:cNvPr id="12" name="TextBox 11"/>
          <p:cNvSpPr txBox="1"/>
          <p:nvPr/>
        </p:nvSpPr>
        <p:spPr>
          <a:xfrm>
            <a:off x="6924675" y="5873888"/>
            <a:ext cx="4438650" cy="212026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CTO at Lumiata, deep learning across 100+ medical conditions. CTO at Mindstrong, digital biomarkers, reliability from 92% to 99.99%, acquired by SonderMind. VP Engineering at SonderMind today.</a:t>
            </a:r>
          </a:p>
        </p:txBody>
      </p:sp>
      <p:sp>
        <p:nvSpPr>
          <p:cNvPr id="13" name="Rounded Rectangle 12"/>
          <p:cNvSpPr/>
          <p:nvPr/>
        </p:nvSpPr>
        <p:spPr>
          <a:xfrm>
            <a:off x="11981700" y="5000000"/>
            <a:ext cx="5163300" cy="325414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5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AI-first, and board-facing</a:t>
            </a:r>
          </a:p>
        </p:txBody>
      </p:sp>
      <p:sp>
        <p:nvSpPr>
          <p:cNvPr id="15" name="TextBox 14"/>
          <p:cNvSpPr txBox="1"/>
          <p:nvPr/>
        </p:nvSpPr>
        <p:spPr>
          <a:xfrm>
            <a:off x="12344025" y="5873888"/>
            <a:ext cx="4438650" cy="177355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Multi-agent systems, real-time voice and regulated guardrails, built hands-on through Artesano. Board-facing at Lumiata and MetaStories. Ten years advising Loupe, with a three-part patent.</a:t>
            </a:r>
          </a:p>
        </p:txBody>
      </p:sp>
      <p:sp>
        <p:nvSpPr>
          <p:cNvPr id="16" name="Rounded Rectangle 15"/>
          <p:cNvSpPr/>
          <p:nvPr/>
        </p:nvSpPr>
        <p:spPr>
          <a:xfrm>
            <a:off x="1143000" y="8424148"/>
            <a:ext cx="16002000" cy="10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05325" y="8624148"/>
            <a:ext cx="15277350" cy="720000"/>
          </a:xfrm>
          <a:prstGeom prst="rect">
            <a:avLst/>
          </a:prstGeom>
          <a:noFill/>
        </p:spPr>
        <p:txBody>
          <a:bodyPr wrap="square" lIns="0" rIns="0" tIns="0" bIns="0" anchor="t">
            <a:noAutofit/>
          </a:bodyPr>
          <a:lstStyle/>
          <a:p>
            <a:pPr algn="l">
              <a:lnSpc>
                <a:spcPct val="130000"/>
              </a:lnSpc>
              <a:spcAft>
                <a:spcPts val="0"/>
              </a:spcAft>
            </a:pPr>
            <a:r>
              <a:rPr sz="2000" b="1" i="0">
                <a:solidFill>
                  <a:srgbClr val="282019"/>
                </a:solidFill>
                <a:latin typeface="Inter"/>
              </a:rPr>
              <a:t>The proof is not the résumé. It is this product: one engineer, five months. A native Swift app, a Python agent backend, a React dashboard. ~77,000 lines. 567 tests. 120 kid-safety evals. 98 builds.</a:t>
            </a:r>
          </a:p>
        </p:txBody>
      </p:sp>
      <p:sp>
        <p:nvSpPr>
          <p:cNvPr id="18" name="TextBox 17"/>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9" name="TextBox 18"/>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TECHNICAL CO-FOUNDER</a:t>
            </a:r>
          </a:p>
        </p:txBody>
      </p:sp>
      <p:sp>
        <p:nvSpPr>
          <p:cNvPr id="5" name="TextBox 4"/>
          <p:cNvSpPr txBox="1"/>
          <p:nvPr/>
        </p:nvSpPr>
        <p:spPr>
          <a:xfrm>
            <a:off x="1143000" y="1595450"/>
            <a:ext cx="13761720" cy="1969760"/>
          </a:xfrm>
          <a:prstGeom prst="rect">
            <a:avLst/>
          </a:prstGeom>
          <a:noFill/>
        </p:spPr>
        <p:txBody>
          <a:bodyPr wrap="square" lIns="0" rIns="0" tIns="0" bIns="0" anchor="t">
            <a:noAutofit/>
          </a:bodyPr>
          <a:lstStyle/>
          <a:p>
            <a:pPr algn="l">
              <a:lnSpc>
                <a:spcPct val="108000"/>
              </a:lnSpc>
              <a:spcAft>
                <a:spcPts val="0"/>
              </a:spcAft>
            </a:pPr>
            <a:r>
              <a:rPr sz="6200" b="1" i="0">
                <a:solidFill>
                  <a:srgbClr val="282019"/>
                </a:solidFill>
                <a:latin typeface="Fraunces"/>
              </a:rPr>
              <a:t>Thirty years shipping.</a:t>
            </a:r>
          </a:p>
          <a:p>
            <a:pPr algn="l">
              <a:lnSpc>
                <a:spcPct val="108000"/>
              </a:lnSpc>
              <a:spcAft>
                <a:spcPts val="0"/>
              </a:spcAft>
            </a:pPr>
            <a:r>
              <a:rPr sz="6200" b="1" i="0">
                <a:solidFill>
                  <a:srgbClr val="282019"/>
                </a:solidFill>
                <a:latin typeface="Fraunces"/>
              </a:rPr>
              <a:t>Thirteen in AI. Twice a CTO.</a:t>
            </a:r>
          </a:p>
        </p:txBody>
      </p:sp>
      <p:sp>
        <p:nvSpPr>
          <p:cNvPr id="6" name="TextBox 5"/>
          <p:cNvSpPr txBox="1"/>
          <p:nvPr/>
        </p:nvSpPr>
        <p:spPr>
          <a:xfrm>
            <a:off x="1143000" y="4300000"/>
            <a:ext cx="12801600" cy="471480"/>
          </a:xfrm>
          <a:prstGeom prst="rect">
            <a:avLst/>
          </a:prstGeom>
          <a:noFill/>
        </p:spPr>
        <p:txBody>
          <a:bodyPr wrap="square" lIns="0" rIns="0" tIns="0" bIns="0" anchor="t">
            <a:noAutofit/>
          </a:bodyPr>
          <a:lstStyle/>
          <a:p>
            <a:pPr algn="l">
              <a:lnSpc>
                <a:spcPct val="135000"/>
              </a:lnSpc>
              <a:spcAft>
                <a:spcPts val="0"/>
              </a:spcAft>
            </a:pPr>
            <a:r>
              <a:rPr sz="2400" b="0" i="0">
                <a:solidFill>
                  <a:srgbClr val="6E6455"/>
                </a:solidFill>
                <a:latin typeface="Inter"/>
              </a:rPr>
              <a:t>Miguel Alvarado. I built every layer of MVP myself, in five months.</a:t>
            </a:r>
          </a:p>
        </p:txBody>
      </p:sp>
      <p:sp>
        <p:nvSpPr>
          <p:cNvPr id="7" name="Rounded Rectangle 6"/>
          <p:cNvSpPr/>
          <p:nvPr/>
        </p:nvSpPr>
        <p:spPr>
          <a:xfrm>
            <a:off x="1143000" y="6000000"/>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6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Shipped at scale</a:t>
            </a:r>
          </a:p>
        </p:txBody>
      </p:sp>
      <p:sp>
        <p:nvSpPr>
          <p:cNvPr id="9" name="TextBox 8"/>
          <p:cNvSpPr txBox="1"/>
          <p:nvPr/>
        </p:nvSpPr>
        <p:spPr>
          <a:xfrm>
            <a:off x="1505325" y="6873888"/>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Microsoft. Brightcove through IPO. Intel Media into Verizon. VP Engineering at Vevo.</a:t>
            </a:r>
          </a:p>
        </p:txBody>
      </p:sp>
      <p:sp>
        <p:nvSpPr>
          <p:cNvPr id="10" name="Rounded Rectangle 9"/>
          <p:cNvSpPr/>
          <p:nvPr/>
        </p:nvSpPr>
        <p:spPr>
          <a:xfrm>
            <a:off x="6562350" y="6000000"/>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6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AI in production</a:t>
            </a:r>
          </a:p>
        </p:txBody>
      </p:sp>
      <p:sp>
        <p:nvSpPr>
          <p:cNvPr id="12" name="TextBox 11"/>
          <p:cNvSpPr txBox="1"/>
          <p:nvPr/>
        </p:nvSpPr>
        <p:spPr>
          <a:xfrm>
            <a:off x="6924675" y="6873888"/>
            <a:ext cx="4438650" cy="108013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CTO at Lumiata and at Mindstrong, acquired by SonderMind. VP Engineering at SonderMind today.</a:t>
            </a:r>
          </a:p>
        </p:txBody>
      </p:sp>
      <p:sp>
        <p:nvSpPr>
          <p:cNvPr id="13" name="Rounded Rectangle 12"/>
          <p:cNvSpPr/>
          <p:nvPr/>
        </p:nvSpPr>
        <p:spPr>
          <a:xfrm>
            <a:off x="11981700" y="6000000"/>
            <a:ext cx="5163300" cy="2214018"/>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63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Building MVP</a:t>
            </a:r>
          </a:p>
        </p:txBody>
      </p:sp>
      <p:sp>
        <p:nvSpPr>
          <p:cNvPr id="15" name="TextBox 14"/>
          <p:cNvSpPr txBox="1"/>
          <p:nvPr/>
        </p:nvSpPr>
        <p:spPr>
          <a:xfrm>
            <a:off x="12344025" y="6873888"/>
            <a:ext cx="4438650" cy="73342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Native Swift app, agent backend, five-layer safety system. One engineer.</a:t>
            </a:r>
          </a:p>
        </p:txBody>
      </p:sp>
      <p:sp>
        <p:nvSpPr>
          <p:cNvPr id="16" name="TextBox 15"/>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7" name="TextBox 16"/>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5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1045369"/>
            <a:ext cx="533400" cy="38100"/>
          </a:xfrm>
          <a:prstGeom prst="rect">
            <a:avLst/>
          </a:prstGeom>
          <a:solidFill>
            <a:srgbClr val="1D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47850" y="914400"/>
            <a:ext cx="4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1B7498"/>
                </a:solidFill>
                <a:latin typeface="JetBrains Mono"/>
              </a:rPr>
              <a:t>THE ASK</a:t>
            </a:r>
          </a:p>
        </p:txBody>
      </p:sp>
      <p:sp>
        <p:nvSpPr>
          <p:cNvPr id="5" name="TextBox 4"/>
          <p:cNvSpPr txBox="1"/>
          <p:nvPr/>
        </p:nvSpPr>
        <p:spPr>
          <a:xfrm>
            <a:off x="1143000" y="1595450"/>
            <a:ext cx="16002000" cy="902960"/>
          </a:xfrm>
          <a:prstGeom prst="rect">
            <a:avLst/>
          </a:prstGeom>
          <a:noFill/>
        </p:spPr>
        <p:txBody>
          <a:bodyPr wrap="square" lIns="0" rIns="0" tIns="0" bIns="0" anchor="t">
            <a:noAutofit/>
          </a:bodyPr>
          <a:lstStyle/>
          <a:p>
            <a:pPr algn="l">
              <a:lnSpc>
                <a:spcPct val="108000"/>
              </a:lnSpc>
              <a:spcAft>
                <a:spcPts val="0"/>
              </a:spcAft>
            </a:pPr>
            <a:r>
              <a:rPr sz="5400" b="1" i="0">
                <a:solidFill>
                  <a:srgbClr val="282019"/>
                </a:solidFill>
                <a:latin typeface="Fraunces"/>
              </a:rPr>
              <a:t>Fund the proof, not the promise.</a:t>
            </a:r>
          </a:p>
        </p:txBody>
      </p:sp>
      <p:sp>
        <p:nvSpPr>
          <p:cNvPr id="6" name="TextBox 5"/>
          <p:cNvSpPr txBox="1"/>
          <p:nvPr/>
        </p:nvSpPr>
        <p:spPr>
          <a:xfrm>
            <a:off x="1143000" y="2898410"/>
            <a:ext cx="11521440" cy="831525"/>
          </a:xfrm>
          <a:prstGeom prst="rect">
            <a:avLst/>
          </a:prstGeom>
          <a:noFill/>
        </p:spPr>
        <p:txBody>
          <a:bodyPr wrap="square" lIns="0" rIns="0" tIns="0" bIns="0" anchor="t">
            <a:noAutofit/>
          </a:bodyPr>
          <a:lstStyle/>
          <a:p>
            <a:pPr algn="l">
              <a:lnSpc>
                <a:spcPct val="135000"/>
              </a:lnSpc>
              <a:spcAft>
                <a:spcPts val="0"/>
              </a:spcAft>
            </a:pPr>
            <a:r>
              <a:rPr sz="2250" b="0" i="0">
                <a:solidFill>
                  <a:srgbClr val="6E6455"/>
                </a:solidFill>
                <a:latin typeface="Inter"/>
              </a:rPr>
              <a:t>The product risk is behind us. What we are buying is the answer to one question: will parents pay for this, at this price, without us in the room.</a:t>
            </a:r>
          </a:p>
        </p:txBody>
      </p:sp>
      <p:sp>
        <p:nvSpPr>
          <p:cNvPr id="7" name="Rounded Rectangle 6"/>
          <p:cNvSpPr/>
          <p:nvPr/>
        </p:nvSpPr>
        <p:spPr>
          <a:xfrm>
            <a:off x="1143000" y="4200000"/>
            <a:ext cx="5163300" cy="29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5325" y="45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Prove they will pay</a:t>
            </a:r>
          </a:p>
        </p:txBody>
      </p:sp>
      <p:sp>
        <p:nvSpPr>
          <p:cNvPr id="9" name="TextBox 8"/>
          <p:cNvSpPr txBox="1"/>
          <p:nvPr/>
        </p:nvSpPr>
        <p:spPr>
          <a:xfrm>
            <a:off x="1505325" y="5073888"/>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Run the gates in the pilot metros. The numbers that matter are median willingness to pay at or above $100 and 90-day retention above 30%.</a:t>
            </a:r>
          </a:p>
        </p:txBody>
      </p:sp>
      <p:sp>
        <p:nvSpPr>
          <p:cNvPr id="10" name="Rounded Rectangle 9"/>
          <p:cNvSpPr/>
          <p:nvPr/>
        </p:nvSpPr>
        <p:spPr>
          <a:xfrm>
            <a:off x="6562350" y="4200000"/>
            <a:ext cx="5163300" cy="29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4675" y="45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Survive one season</a:t>
            </a:r>
          </a:p>
        </p:txBody>
      </p:sp>
      <p:sp>
        <p:nvSpPr>
          <p:cNvPr id="12" name="TextBox 11"/>
          <p:cNvSpPr txBox="1"/>
          <p:nvPr/>
        </p:nvSpPr>
        <p:spPr>
          <a:xfrm>
            <a:off x="6924675" y="5073888"/>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The miss detector runs clean through a real winter-into-spring registration cycle. That is the difference between a product and a promise.</a:t>
            </a:r>
          </a:p>
        </p:txBody>
      </p:sp>
      <p:sp>
        <p:nvSpPr>
          <p:cNvPr id="13" name="Rounded Rectangle 12"/>
          <p:cNvSpPr/>
          <p:nvPr/>
        </p:nvSpPr>
        <p:spPr>
          <a:xfrm>
            <a:off x="11981700" y="4200000"/>
            <a:ext cx="5163300" cy="2900000"/>
          </a:xfrm>
          <a:prstGeom prst="roundRect">
            <a:avLst>
              <a:gd name="adj" fmla="val 4500"/>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025" y="4573843"/>
            <a:ext cx="4438650" cy="400045"/>
          </a:xfrm>
          <a:prstGeom prst="rect">
            <a:avLst/>
          </a:prstGeom>
          <a:noFill/>
        </p:spPr>
        <p:txBody>
          <a:bodyPr wrap="square" lIns="0" rIns="0" tIns="0" bIns="0" anchor="t">
            <a:noAutofit/>
          </a:bodyPr>
          <a:lstStyle/>
          <a:p>
            <a:pPr algn="l">
              <a:lnSpc>
                <a:spcPct val="115000"/>
              </a:lnSpc>
              <a:spcAft>
                <a:spcPts val="0"/>
              </a:spcAft>
            </a:pPr>
            <a:r>
              <a:rPr sz="2250" b="1" i="0">
                <a:solidFill>
                  <a:srgbClr val="282019"/>
                </a:solidFill>
                <a:latin typeface="Inter"/>
              </a:rPr>
              <a:t>Close the two known gaps</a:t>
            </a:r>
          </a:p>
        </p:txBody>
      </p:sp>
      <p:sp>
        <p:nvSpPr>
          <p:cNvPr id="15" name="TextBox 14"/>
          <p:cNvSpPr txBox="1"/>
          <p:nvPr/>
        </p:nvSpPr>
        <p:spPr>
          <a:xfrm>
            <a:off x="12344025" y="5073888"/>
            <a:ext cx="4438650" cy="1426840"/>
          </a:xfrm>
          <a:prstGeom prst="rect">
            <a:avLst/>
          </a:prstGeom>
          <a:noFill/>
        </p:spPr>
        <p:txBody>
          <a:bodyPr wrap="square" lIns="0" rIns="0" tIns="0" bIns="0" anchor="t">
            <a:noAutofit/>
          </a:bodyPr>
          <a:lstStyle/>
          <a:p>
            <a:pPr algn="l">
              <a:lnSpc>
                <a:spcPct val="132000"/>
              </a:lnSpc>
              <a:spcAft>
                <a:spcPts val="0"/>
              </a:spcAft>
            </a:pPr>
            <a:r>
              <a:rPr sz="1950" b="0" i="0">
                <a:solidFill>
                  <a:srgbClr val="6E6455"/>
                </a:solidFill>
                <a:latin typeface="Inter"/>
              </a:rPr>
              <a:t>COPPA compliance, which unlocks the kid companion we are sitting on, and the move off a single-writer database before scale demands it.</a:t>
            </a:r>
          </a:p>
        </p:txBody>
      </p:sp>
      <p:sp>
        <p:nvSpPr>
          <p:cNvPr id="16" name="TextBox 15"/>
          <p:cNvSpPr txBox="1"/>
          <p:nvPr/>
        </p:nvSpPr>
        <p:spPr>
          <a:xfrm>
            <a:off x="1143000" y="7600000"/>
            <a:ext cx="13761720" cy="1200000"/>
          </a:xfrm>
          <a:prstGeom prst="rect">
            <a:avLst/>
          </a:prstGeom>
          <a:noFill/>
        </p:spPr>
        <p:txBody>
          <a:bodyPr wrap="square" lIns="0" rIns="0" tIns="0" bIns="0" anchor="t">
            <a:noAutofit/>
          </a:bodyPr>
          <a:lstStyle/>
          <a:p>
            <a:pPr algn="l">
              <a:lnSpc>
                <a:spcPct val="130000"/>
              </a:lnSpc>
              <a:spcAft>
                <a:spcPts val="0"/>
              </a:spcAft>
            </a:pPr>
            <a:r>
              <a:rPr sz="2400" b="0" i="1">
                <a:solidFill>
                  <a:srgbClr val="282019"/>
                </a:solidFill>
                <a:latin typeface="Fraunces"/>
              </a:rPr>
              <a:t>Every hard coordination job in the economy got software. The family is the last one holding out, and the technology that finally solves it arrived eighteen months ago. We built the thing. We would like to go find out what it is worth.</a:t>
            </a:r>
          </a:p>
        </p:txBody>
      </p:sp>
      <p:sp>
        <p:nvSpPr>
          <p:cNvPr id="17" name="TextBox 16"/>
          <p:cNvSpPr txBox="1"/>
          <p:nvPr/>
        </p:nvSpPr>
        <p:spPr>
          <a:xfrm>
            <a:off x="1143000" y="9567863"/>
            <a:ext cx="6000000" cy="338138"/>
          </a:xfrm>
          <a:prstGeom prst="rect">
            <a:avLst/>
          </a:prstGeom>
          <a:noFill/>
        </p:spPr>
        <p:txBody>
          <a:bodyPr wrap="square" lIns="0" rIns="0" tIns="0" bIns="0" anchor="t">
            <a:noAutofit/>
          </a:bodyPr>
          <a:lstStyle/>
          <a:p>
            <a:pPr algn="l">
              <a:lnSpc>
                <a:spcPct val="100000"/>
              </a:lnSpc>
              <a:spcAft>
                <a:spcPts val="0"/>
              </a:spcAft>
            </a:pPr>
            <a:r>
              <a:rPr sz="1800" b="0" i="0">
                <a:solidFill>
                  <a:srgbClr val="9A9080"/>
                </a:solidFill>
                <a:latin typeface="JetBrains Mono"/>
              </a:rPr>
              <a:t>Most Valuable Parent</a:t>
            </a:r>
          </a:p>
        </p:txBody>
      </p:sp>
      <p:sp>
        <p:nvSpPr>
          <p:cNvPr id="18" name="TextBox 17"/>
          <p:cNvSpPr txBox="1"/>
          <p:nvPr/>
        </p:nvSpPr>
        <p:spPr>
          <a:xfrm>
            <a:off x="15145000" y="9567863"/>
            <a:ext cx="2000000" cy="338138"/>
          </a:xfrm>
          <a:prstGeom prst="rect">
            <a:avLst/>
          </a:prstGeom>
          <a:noFill/>
        </p:spPr>
        <p:txBody>
          <a:bodyPr wrap="square" lIns="0" rIns="0" tIns="0" bIns="0" anchor="t">
            <a:noAutofit/>
          </a:bodyPr>
          <a:lstStyle/>
          <a:p>
            <a:pPr algn="r">
              <a:lnSpc>
                <a:spcPct val="100000"/>
              </a:lnSpc>
              <a:spcAft>
                <a:spcPts val="0"/>
              </a:spcAft>
            </a:pPr>
            <a:r>
              <a:rPr sz="1800" b="0" i="0">
                <a:solidFill>
                  <a:srgbClr val="9A9080"/>
                </a:solidFill>
                <a:latin typeface="JetBrains Mono"/>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